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305" r:id="rId6"/>
    <p:sldId id="287" r:id="rId7"/>
    <p:sldId id="288" r:id="rId8"/>
    <p:sldId id="289" r:id="rId9"/>
    <p:sldId id="290" r:id="rId10"/>
    <p:sldId id="291" r:id="rId11"/>
    <p:sldId id="292" r:id="rId12"/>
    <p:sldId id="306" r:id="rId13"/>
    <p:sldId id="293" r:id="rId14"/>
    <p:sldId id="294" r:id="rId15"/>
    <p:sldId id="295" r:id="rId16"/>
    <p:sldId id="308" r:id="rId17"/>
    <p:sldId id="302" r:id="rId18"/>
    <p:sldId id="356" r:id="rId19"/>
    <p:sldId id="378" r:id="rId20"/>
    <p:sldId id="303" r:id="rId21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2F8A7-3D5E-F649-9DC9-A5842418C743}" v="6" dt="2023-05-10T17:22:22.036"/>
    <p1510:client id="{C0D49D20-7702-432E-86F3-B25480A07BAD}" v="18" dt="2023-12-29T20:17:58.667"/>
    <p1510:client id="{CB4FC6EA-195B-4C35-8E81-38D547C66F76}" v="1" dt="2023-12-29T20:12:55.420"/>
    <p1510:client id="{F0A20966-E177-49B5-80FF-AD63EE96CD4B}" v="2" dt="2023-12-29T20:12:15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3" autoAdjust="0"/>
    <p:restoredTop sz="94643"/>
  </p:normalViewPr>
  <p:slideViewPr>
    <p:cSldViewPr snapToGrid="0">
      <p:cViewPr varScale="1">
        <p:scale>
          <a:sx n="110" d="100"/>
          <a:sy n="110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357F-A277-7442-BEE7-4FE250216E54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BE6-C510-F641-8D21-F1C49E24602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83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0" y="2019600"/>
            <a:ext cx="12191400" cy="410508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" name="Picture 6"/>
          <p:cNvPicPr/>
          <p:nvPr/>
        </p:nvPicPr>
        <p:blipFill>
          <a:blip r:embed="rId14"/>
          <a:srcRect t="1526" b="-1526"/>
          <a:stretch/>
        </p:blipFill>
        <p:spPr>
          <a:xfrm>
            <a:off x="0" y="6126480"/>
            <a:ext cx="12191400" cy="742320"/>
          </a:xfrm>
          <a:prstGeom prst="rect">
            <a:avLst/>
          </a:prstGeom>
          <a:ln>
            <a:noFill/>
          </a:ln>
        </p:spPr>
      </p:pic>
      <p:sp>
        <p:nvSpPr>
          <p:cNvPr id="2" name="Line 2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Line 3"/>
          <p:cNvSpPr/>
          <p:nvPr/>
        </p:nvSpPr>
        <p:spPr>
          <a:xfrm>
            <a:off x="2417760" y="3528360"/>
            <a:ext cx="863676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2640" cy="1048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CA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2019600"/>
            <a:ext cx="12191400" cy="410508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3" name="Picture 6"/>
          <p:cNvPicPr/>
          <p:nvPr/>
        </p:nvPicPr>
        <p:blipFill>
          <a:blip r:embed="rId15"/>
          <a:srcRect t="1526" b="-1526"/>
          <a:stretch/>
        </p:blipFill>
        <p:spPr>
          <a:xfrm>
            <a:off x="0" y="6126480"/>
            <a:ext cx="12191400" cy="742320"/>
          </a:xfrm>
          <a:prstGeom prst="rect">
            <a:avLst/>
          </a:prstGeom>
          <a:ln>
            <a:noFill/>
          </a:ln>
        </p:spPr>
      </p:pic>
      <p:sp>
        <p:nvSpPr>
          <p:cNvPr id="44" name="Line 2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Line 3"/>
          <p:cNvSpPr/>
          <p:nvPr/>
        </p:nvSpPr>
        <p:spPr>
          <a:xfrm>
            <a:off x="1453680" y="1846800"/>
            <a:ext cx="960768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CA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3.0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senecacollege.ca/learningcentre/slg" TargetMode="External"/><Relationship Id="rId2" Type="http://schemas.openxmlformats.org/officeDocument/2006/relationships/hyperlink" Target="https://library.senecacollege.ca/learningcentre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lix.tiss.edu/curriculum/teacher-professional-developmen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jmcarman.github.io/OPS145/A-Tutorials/tutorial1a#linux-practice-questions" TargetMode="External"/><Relationship Id="rId2" Type="http://schemas.openxmlformats.org/officeDocument/2006/relationships/hyperlink" Target="https://jmcarman.github.io/OPS145/A-Tutorials/tutorial1a#investigation-2-using-the-linux-shell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964879" y="989301"/>
            <a:ext cx="9344251" cy="35244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0" anchor="b">
            <a:normAutofit/>
          </a:bodyPr>
          <a:lstStyle/>
          <a:p>
            <a:pPr>
              <a:spcAft>
                <a:spcPts val="1199"/>
              </a:spcAft>
            </a:pPr>
            <a:r>
              <a:rPr lang="en-US" sz="2400" cap="all" spc="-1" dirty="0">
                <a:solidFill>
                  <a:srgbClr val="000000"/>
                </a:solidFill>
                <a:latin typeface="Gill Sans MT"/>
              </a:rPr>
              <a:t>    </a:t>
            </a:r>
            <a:br>
              <a:rPr lang="en-US" sz="2400" cap="all" spc="-1" dirty="0">
                <a:latin typeface="Gill Sans MT"/>
              </a:rPr>
            </a:br>
            <a:br>
              <a:rPr lang="en-US" sz="2400" cap="all" spc="-1" dirty="0">
                <a:latin typeface="Gill Sans MT"/>
              </a:rPr>
            </a:br>
            <a:r>
              <a:rPr lang="en-US" sz="2400" cap="all" spc="-1" dirty="0">
                <a:solidFill>
                  <a:srgbClr val="000000"/>
                </a:solidFill>
                <a:latin typeface="Gill Sans MT"/>
              </a:rPr>
              <a:t>    OPS145</a:t>
            </a:r>
            <a:r>
              <a:rPr lang="en-US" sz="2400" b="0" strike="noStrike" cap="all" spc="-1" dirty="0">
                <a:solidFill>
                  <a:srgbClr val="000000"/>
                </a:solidFill>
                <a:latin typeface="Gill Sans MT"/>
              </a:rPr>
              <a:t>:</a:t>
            </a:r>
            <a:r>
              <a:rPr lang="en-US" sz="2400" cap="all" spc="-1" dirty="0">
                <a:solidFill>
                  <a:srgbClr val="000000"/>
                </a:solidFill>
                <a:latin typeface="Gill Sans MT"/>
              </a:rPr>
              <a:t> </a:t>
            </a:r>
            <a:r>
              <a:rPr lang="en-US" sz="2400" b="0" strike="noStrike" cap="all" spc="-1" dirty="0">
                <a:solidFill>
                  <a:srgbClr val="000000"/>
                </a:solidFill>
                <a:latin typeface="Gill Sans MT"/>
              </a:rPr>
              <a:t> Introduction to Unix / Linux and the Internet</a:t>
            </a:r>
            <a:br>
              <a:rPr lang="en-US" dirty="0"/>
            </a:br>
            <a:r>
              <a:rPr lang="en-US" sz="1200" cap="all" spc="-1" dirty="0">
                <a:solidFill>
                  <a:srgbClr val="000000"/>
                </a:solidFill>
                <a:latin typeface="Gill Sans MT"/>
              </a:rPr>
              <a:t> </a:t>
            </a:r>
            <a:r>
              <a:rPr lang="en-US" dirty="0"/>
              <a:t> </a:t>
            </a:r>
            <a:endParaRPr lang="en-US" sz="2200" cap="all" spc="-1" dirty="0">
              <a:latin typeface="Gill Sans MT"/>
            </a:endParaRPr>
          </a:p>
          <a:p>
            <a:pPr>
              <a:spcAft>
                <a:spcPts val="1199"/>
              </a:spcAft>
            </a:pPr>
            <a:r>
              <a:rPr lang="en-US" sz="2400" b="0" strike="noStrike" cap="all" spc="-1" dirty="0">
                <a:solidFill>
                  <a:srgbClr val="0070C0"/>
                </a:solidFill>
                <a:latin typeface="Gill Sans MT"/>
              </a:rPr>
              <a:t>     Week1:</a:t>
            </a:r>
            <a:r>
              <a:rPr lang="en-US" sz="2400" b="0" strike="noStrike" cap="all" spc="-1" dirty="0">
                <a:solidFill>
                  <a:srgbClr val="000000"/>
                </a:solidFill>
                <a:latin typeface="Gill Sans MT"/>
              </a:rPr>
              <a:t>  </a:t>
            </a:r>
            <a:r>
              <a:rPr lang="en-US" sz="2400" b="0" strike="noStrike" cap="all" spc="-1" dirty="0">
                <a:solidFill>
                  <a:srgbClr val="0070C0"/>
                </a:solidFill>
                <a:latin typeface="Gill Sans MT"/>
              </a:rPr>
              <a:t>lesson 2</a:t>
            </a:r>
          </a:p>
          <a:p>
            <a:pPr>
              <a:spcAft>
                <a:spcPts val="1199"/>
              </a:spcAft>
            </a:pPr>
            <a:br>
              <a:rPr lang="en-US" sz="2200" dirty="0"/>
            </a:br>
            <a:r>
              <a:rPr lang="en-US" sz="2200" dirty="0"/>
              <a:t>     </a:t>
            </a:r>
            <a:r>
              <a:rPr lang="en-US" sz="2400" b="0" strike="noStrike" cap="all" spc="-1" dirty="0">
                <a:solidFill>
                  <a:srgbClr val="0070C0"/>
                </a:solidFill>
                <a:latin typeface="Gill Sans MT"/>
              </a:rPr>
              <a:t>Issuing Linux Commands / Linux Command Help</a:t>
            </a:r>
            <a:br>
              <a:rPr lang="en-US" sz="2400" b="0" strike="noStrike" cap="all" spc="-1" dirty="0">
                <a:solidFill>
                  <a:srgbClr val="0070C0"/>
                </a:solidFill>
                <a:latin typeface="Gill Sans MT"/>
              </a:rPr>
            </a:br>
            <a:r>
              <a:rPr lang="en-US" sz="2400" b="0" strike="noStrike" cap="all" spc="-1" dirty="0">
                <a:solidFill>
                  <a:srgbClr val="0070C0"/>
                </a:solidFill>
                <a:latin typeface="Gill Sans MT"/>
              </a:rPr>
              <a:t>    Command LINE EDITING / </a:t>
            </a:r>
            <a:r>
              <a:rPr lang="en-CA" sz="2400" dirty="0"/>
              <a:t> </a:t>
            </a:r>
            <a:r>
              <a:rPr lang="en-US" sz="2400" b="0" strike="noStrike" cap="all" spc="-1" dirty="0">
                <a:solidFill>
                  <a:srgbClr val="0070C0"/>
                </a:solidFill>
                <a:latin typeface="Gill Sans MT"/>
              </a:rPr>
              <a:t>Online Tu</a:t>
            </a:r>
            <a:r>
              <a:rPr lang="en-US" sz="2400" cap="all" spc="-1" dirty="0">
                <a:solidFill>
                  <a:srgbClr val="0070C0"/>
                </a:solidFill>
                <a:latin typeface="Gill Sans MT"/>
              </a:rPr>
              <a:t>torials  / SLGs</a:t>
            </a:r>
            <a:endParaRPr lang="en-US" cap="all" spc="-1" dirty="0">
              <a:solidFill>
                <a:srgbClr val="0070C0"/>
              </a:solidFill>
              <a:latin typeface="Gill Sans MT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1964880" y="5362112"/>
            <a:ext cx="9089280" cy="5300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800" b="0" strike="noStrike" cap="all" spc="-1" dirty="0">
                <a:solidFill>
                  <a:srgbClr val="000000"/>
                </a:solidFill>
                <a:latin typeface="Gill Sans MT"/>
              </a:rPr>
              <a:t>    Photos and icons used in this slide show are licensed under </a:t>
            </a:r>
            <a:r>
              <a:rPr lang="en-CA" sz="1800" b="0" u="sng" strike="noStrike" cap="all" spc="-1" dirty="0">
                <a:solidFill>
                  <a:srgbClr val="FA2B5C"/>
                </a:solidFill>
                <a:uFillTx/>
                <a:latin typeface="Gill Sans MT"/>
                <a:hlinkClick r:id="rId2"/>
              </a:rPr>
              <a:t>CC BY-SA</a:t>
            </a:r>
            <a:endParaRPr lang="en-CA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0192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Lesson 2  topics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1451520" y="1871036"/>
            <a:ext cx="9602640" cy="39971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Gill Sans MT"/>
              </a:rPr>
              <a:t>Using Your Matrix Account</a:t>
            </a:r>
            <a:endParaRPr lang="en-CA" sz="2000" b="0" strike="noStrike" spc="-1" dirty="0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Issuing Linux Commands / Arguments / Options</a:t>
            </a:r>
            <a:endParaRPr lang="en-CA" sz="1800" b="0" strike="noStrike" spc="-1" dirty="0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Command Help / Command Line Editing</a:t>
            </a:r>
            <a:endParaRPr lang="en-CA" sz="1800" b="0" strike="noStrike" spc="-1" dirty="0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General Linux Commands</a:t>
            </a:r>
            <a:endParaRPr lang="en-CA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Gill Sans MT"/>
              </a:rPr>
              <a:t>Getting Practice Issuing Linux Commands</a:t>
            </a:r>
            <a:endParaRPr lang="en-CA" sz="2000" b="0" strike="noStrike" spc="-1" dirty="0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Performing Weekly Tutorials For Marks</a:t>
            </a: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Linux Practice Questions </a:t>
            </a:r>
            <a:endParaRPr lang="en-CA" sz="1800" b="0" strike="noStrike" spc="-1" dirty="0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Getting Help / SLGs (Student Learning Groups)</a:t>
            </a:r>
            <a:endParaRPr lang="en-CA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Gill Sans MT"/>
              </a:rPr>
              <a:t>Homework</a:t>
            </a:r>
            <a:endParaRPr lang="en-CA" sz="2000" b="0" strike="noStrike" spc="-1" dirty="0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Perform </a:t>
            </a:r>
            <a:r>
              <a:rPr lang="en-US" sz="1800" b="1" strike="noStrike" spc="-1" dirty="0">
                <a:solidFill>
                  <a:srgbClr val="000000"/>
                </a:solidFill>
                <a:latin typeface="Gill Sans MT"/>
              </a:rPr>
              <a:t>Tutorial 1</a:t>
            </a: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 – </a:t>
            </a:r>
            <a:r>
              <a:rPr lang="en-US" sz="1800" b="1" strike="noStrike" spc="-1" dirty="0">
                <a:solidFill>
                  <a:srgbClr val="000000"/>
                </a:solidFill>
                <a:latin typeface="Gill Sans MT"/>
              </a:rPr>
              <a:t>Investigation #2</a:t>
            </a:r>
            <a:endParaRPr lang="en-CA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Using your matrix account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1451520" y="1862158"/>
            <a:ext cx="9602640" cy="400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20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600" b="1" strike="noStrike" spc="-1" dirty="0">
                <a:solidFill>
                  <a:srgbClr val="000000"/>
                </a:solidFill>
                <a:latin typeface="Gill Sans MT"/>
              </a:rPr>
              <a:t>Linux Command Structure</a:t>
            </a:r>
            <a:endParaRPr lang="en-CA" sz="26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trike="noStrike" spc="-1" dirty="0">
                <a:solidFill>
                  <a:srgbClr val="0070C0"/>
                </a:solidFill>
                <a:latin typeface="Gill Sans MT"/>
              </a:rPr>
              <a:t>command argument1 argument2 ...</a:t>
            </a:r>
            <a:endParaRPr lang="en-CA" sz="20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Some Linux commands can be issued by entering the Linux command line 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without arguments 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(e.g. </a:t>
            </a:r>
            <a:r>
              <a:rPr lang="en-CA" sz="2000" b="1" strike="noStrike" spc="-1" dirty="0" err="1">
                <a:solidFill>
                  <a:srgbClr val="000000"/>
                </a:solidFill>
                <a:latin typeface="Gill Sans MT"/>
              </a:rPr>
              <a:t>pwd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date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ls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2000" b="1" strike="noStrike" spc="-1" dirty="0" err="1">
                <a:solidFill>
                  <a:srgbClr val="000000"/>
                </a:solidFill>
                <a:latin typeface="Gill Sans MT"/>
              </a:rPr>
              <a:t>cal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), but some Linux commands can be issued with arguments (e.g. </a:t>
            </a:r>
            <a:r>
              <a:rPr lang="en-CA" sz="2000" b="1" strike="noStrike" spc="-1" dirty="0" err="1">
                <a:solidFill>
                  <a:srgbClr val="000000"/>
                </a:solidFill>
                <a:latin typeface="Gill Sans MT"/>
              </a:rPr>
              <a:t>cal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 2002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cd /bin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ls -la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 ).</a:t>
            </a:r>
            <a:endParaRPr lang="en-CA" sz="20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An 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argument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 can be a file 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pathname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text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,  or an 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option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.</a:t>
            </a:r>
            <a:endParaRPr lang="en-CA" sz="20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Examples:</a:t>
            </a:r>
            <a:endParaRPr lang="en-CA" sz="2000" b="0" strike="noStrike" spc="-1" dirty="0">
              <a:latin typeface="Arial"/>
            </a:endParaRPr>
          </a:p>
          <a:p>
            <a:pPr marL="228600" indent="-22788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The </a:t>
            </a:r>
            <a:r>
              <a:rPr lang="en-CA" sz="2000" b="1" strike="noStrike" spc="-1" dirty="0">
                <a:solidFill>
                  <a:srgbClr val="0070C0"/>
                </a:solidFill>
                <a:latin typeface="Gill Sans MT"/>
              </a:rPr>
              <a:t>ls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 command displays a listing of just filenames in the 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current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 directory</a:t>
            </a:r>
            <a:endParaRPr lang="en-CA" sz="2000" b="0" strike="noStrike" spc="-1" dirty="0">
              <a:latin typeface="Arial"/>
            </a:endParaRPr>
          </a:p>
          <a:p>
            <a:pPr marL="228600" indent="-22788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The</a:t>
            </a:r>
            <a:r>
              <a:rPr lang="en-CA" sz="2000" b="0" strike="noStrike" spc="-1" dirty="0">
                <a:solidFill>
                  <a:srgbClr val="0070C0"/>
                </a:solidFill>
                <a:latin typeface="Gill Sans MT"/>
              </a:rPr>
              <a:t> </a:t>
            </a:r>
            <a:r>
              <a:rPr lang="en-CA" sz="2000" b="1" strike="noStrike" spc="-1" dirty="0">
                <a:solidFill>
                  <a:srgbClr val="0070C0"/>
                </a:solidFill>
                <a:latin typeface="Gill Sans MT"/>
              </a:rPr>
              <a:t>ls /</a:t>
            </a:r>
            <a:r>
              <a:rPr lang="en-CA" sz="2000" b="1" strike="noStrike" spc="-1" dirty="0" err="1">
                <a:solidFill>
                  <a:srgbClr val="0070C0"/>
                </a:solidFill>
                <a:latin typeface="Gill Sans MT"/>
              </a:rPr>
              <a:t>etc</a:t>
            </a:r>
            <a:r>
              <a:rPr lang="en-CA" sz="2000" b="0" strike="noStrike" spc="-1" dirty="0">
                <a:solidFill>
                  <a:srgbClr val="0070C0"/>
                </a:solidFill>
                <a:latin typeface="Gill Sans MT"/>
              </a:rPr>
              <a:t> 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command displays a listing of filenames in the 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/</a:t>
            </a:r>
            <a:r>
              <a:rPr lang="en-CA" sz="2000" b="1" strike="noStrike" spc="-1" dirty="0" err="1">
                <a:solidFill>
                  <a:srgbClr val="000000"/>
                </a:solidFill>
                <a:latin typeface="Gill Sans MT"/>
              </a:rPr>
              <a:t>etc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directory </a:t>
            </a:r>
            <a:br>
              <a:rPr dirty="0"/>
            </a:b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(as opposed to your current directory)</a:t>
            </a:r>
            <a:endParaRPr lang="en-CA" sz="2000" b="0" strike="noStrike" spc="-1" dirty="0">
              <a:latin typeface="Arial"/>
            </a:endParaRPr>
          </a:p>
          <a:p>
            <a:pPr marL="228600" indent="-22788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The</a:t>
            </a:r>
            <a:r>
              <a:rPr lang="en-CA" sz="2000" b="0" strike="noStrike" spc="-1" dirty="0">
                <a:solidFill>
                  <a:srgbClr val="0070C0"/>
                </a:solidFill>
                <a:latin typeface="Gill Sans MT"/>
              </a:rPr>
              <a:t> </a:t>
            </a:r>
            <a:r>
              <a:rPr lang="en-CA" sz="2000" b="1" strike="noStrike" spc="-1" dirty="0">
                <a:solidFill>
                  <a:srgbClr val="0070C0"/>
                </a:solidFill>
                <a:latin typeface="Gill Sans MT"/>
              </a:rPr>
              <a:t>ls -l</a:t>
            </a:r>
            <a:r>
              <a:rPr lang="en-CA" sz="2000" b="0" strike="noStrike" spc="-1" dirty="0">
                <a:solidFill>
                  <a:srgbClr val="0070C0"/>
                </a:solidFill>
                <a:latin typeface="Gill Sans MT"/>
              </a:rPr>
              <a:t> 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command displays a 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detailed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 listing of filenames in the 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current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 directory</a:t>
            </a:r>
            <a:endParaRPr lang="en-CA" sz="2000" b="0" strike="noStrike" spc="-1" dirty="0">
              <a:latin typeface="Arial"/>
            </a:endParaRPr>
          </a:p>
          <a:p>
            <a:pPr marL="228600" indent="-22788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The </a:t>
            </a:r>
            <a:r>
              <a:rPr lang="en-CA" sz="2000" b="1" strike="noStrike" spc="-1" dirty="0">
                <a:solidFill>
                  <a:srgbClr val="0070C0"/>
                </a:solidFill>
                <a:latin typeface="Gill Sans MT"/>
              </a:rPr>
              <a:t>ls -l /</a:t>
            </a:r>
            <a:r>
              <a:rPr lang="en-CA" sz="2000" b="1" strike="noStrike" spc="-1" dirty="0" err="1">
                <a:solidFill>
                  <a:srgbClr val="0070C0"/>
                </a:solidFill>
                <a:latin typeface="Gill Sans MT"/>
              </a:rPr>
              <a:t>etc</a:t>
            </a:r>
            <a:r>
              <a:rPr lang="en-CA" sz="2000" b="0" strike="noStrike" spc="-1" dirty="0">
                <a:solidFill>
                  <a:srgbClr val="0070C0"/>
                </a:solidFill>
                <a:latin typeface="Gill Sans MT"/>
              </a:rPr>
              <a:t> 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command displays a 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detailed</a:t>
            </a:r>
            <a:r>
              <a:rPr lang="en-CA" sz="2000" b="0" strike="noStrike" spc="-1" dirty="0">
                <a:solidFill>
                  <a:srgbClr val="000000"/>
                </a:solidFill>
                <a:latin typeface="Gill Sans MT"/>
              </a:rPr>
              <a:t> listing of files in the </a:t>
            </a: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/</a:t>
            </a:r>
            <a:r>
              <a:rPr lang="en-CA" sz="2000" b="1" spc="-1" dirty="0" err="1">
                <a:solidFill>
                  <a:srgbClr val="000000"/>
                </a:solidFill>
                <a:latin typeface="Gill Sans MT"/>
              </a:rPr>
              <a:t>etc</a:t>
            </a:r>
            <a:r>
              <a:rPr lang="en-CA" sz="2000" b="1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2000" spc="-1" dirty="0">
                <a:solidFill>
                  <a:srgbClr val="000000"/>
                </a:solidFill>
                <a:latin typeface="Gill Sans MT"/>
              </a:rPr>
              <a:t>directory</a:t>
            </a:r>
            <a:endParaRPr lang="en-CA" sz="2000" b="0" strike="noStrike" spc="-1" dirty="0">
              <a:latin typeface="Arial"/>
            </a:endParaRPr>
          </a:p>
        </p:txBody>
      </p:sp>
      <p:pic>
        <p:nvPicPr>
          <p:cNvPr id="190" name="Picture 6" descr="Graphical user interfac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10481346" y="388883"/>
            <a:ext cx="1145628" cy="114899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Using your matrix account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1451520" y="1875440"/>
            <a:ext cx="9602640" cy="39838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10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200" b="1" strike="noStrike" spc="-1" dirty="0">
                <a:solidFill>
                  <a:srgbClr val="000000"/>
                </a:solidFill>
                <a:latin typeface="Gill Sans MT"/>
              </a:rPr>
              <a:t>Getting Help with Linux Commands</a:t>
            </a:r>
            <a:endParaRPr lang="en-CA" sz="22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With the Linux OS containing over 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2500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 commands and utilities, it is good for a Linux user or Linux System Administrator (i.e. sysadmin) to learn about how to use commands </a:t>
            </a:r>
            <a:r>
              <a:rPr lang="en-CA" sz="1900" b="0" i="1" strike="noStrike" spc="-1" dirty="0">
                <a:solidFill>
                  <a:srgbClr val="000000"/>
                </a:solidFill>
                <a:latin typeface="Gill Sans MT"/>
              </a:rPr>
              <a:t>“on-the-fly”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.</a:t>
            </a:r>
            <a:endParaRPr lang="en-CA" sz="19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The 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man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 command can provide information on how to use a command (i.e. 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usage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arguments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options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, 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examples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).</a:t>
            </a:r>
            <a:r>
              <a:rPr lang="en-CA" dirty="0"/>
              <a:t> 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The commands are classified into sections or “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volumes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”.</a:t>
            </a:r>
            <a:br>
              <a:rPr dirty="0"/>
            </a:br>
            <a:br>
              <a:rPr dirty="0"/>
            </a:b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Example:</a:t>
            </a:r>
            <a:br>
              <a:rPr dirty="0"/>
            </a:br>
            <a:r>
              <a:rPr lang="en-CA" sz="1900" b="1" strike="noStrike" spc="-1" dirty="0">
                <a:solidFill>
                  <a:srgbClr val="0070C0"/>
                </a:solidFill>
                <a:latin typeface="Gill Sans MT"/>
              </a:rPr>
              <a:t>man ls</a:t>
            </a:r>
            <a:endParaRPr lang="en-CA" sz="19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If you do not know the name of a Linux command,  the 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man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 utility can be used with the </a:t>
            </a:r>
            <a:r>
              <a:rPr lang="en-CA" sz="1900" b="1" strike="noStrike" spc="-1" dirty="0">
                <a:solidFill>
                  <a:srgbClr val="000000"/>
                </a:solidFill>
                <a:latin typeface="Gill Sans MT"/>
              </a:rPr>
              <a:t>-k</a:t>
            </a: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 option to help list Linux commands that match a text pattern that is contained within the help screen for a Linux command.</a:t>
            </a:r>
            <a:br>
              <a:rPr dirty="0"/>
            </a:br>
            <a:br>
              <a:rPr dirty="0"/>
            </a:br>
            <a:r>
              <a:rPr lang="en-CA" sz="1900" b="0" strike="noStrike" spc="-1" dirty="0">
                <a:solidFill>
                  <a:srgbClr val="000000"/>
                </a:solidFill>
                <a:latin typeface="Gill Sans MT"/>
              </a:rPr>
              <a:t>Example:</a:t>
            </a:r>
            <a:br>
              <a:rPr dirty="0"/>
            </a:br>
            <a:r>
              <a:rPr lang="en-CA" sz="1900" b="1" strike="noStrike" spc="-1" dirty="0">
                <a:solidFill>
                  <a:srgbClr val="0070C0"/>
                </a:solidFill>
                <a:latin typeface="Gill Sans MT"/>
              </a:rPr>
              <a:t>man –k copy</a:t>
            </a:r>
            <a:endParaRPr lang="en-CA" sz="1900" b="0" strike="noStrike" spc="-1" dirty="0">
              <a:solidFill>
                <a:srgbClr val="0070C0"/>
              </a:solidFill>
              <a:latin typeface="Arial"/>
            </a:endParaRPr>
          </a:p>
        </p:txBody>
      </p:sp>
      <p:pic>
        <p:nvPicPr>
          <p:cNvPr id="193" name="Picture 4" descr="Icon&#10;&#10;Description automatically generated"/>
          <p:cNvPicPr/>
          <p:nvPr/>
        </p:nvPicPr>
        <p:blipFill>
          <a:blip r:embed="rId2"/>
          <a:stretch/>
        </p:blipFill>
        <p:spPr>
          <a:xfrm>
            <a:off x="10438336" y="451943"/>
            <a:ext cx="1231647" cy="111458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Using your matrix account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1451520" y="1871036"/>
            <a:ext cx="9602640" cy="12272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Getting Help with Linux Commands / Continued…</a:t>
            </a:r>
            <a:endParaRPr lang="en-CA" sz="20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400" b="0" strike="noStrike" spc="-1" dirty="0">
                <a:solidFill>
                  <a:srgbClr val="000000"/>
                </a:solidFill>
                <a:latin typeface="Gill Sans MT"/>
              </a:rPr>
              <a:t>You can use the following short-cut keys within the </a:t>
            </a:r>
            <a:r>
              <a:rPr lang="en-CA" sz="1400" b="1" strike="noStrike" spc="-1" dirty="0">
                <a:solidFill>
                  <a:srgbClr val="000000"/>
                </a:solidFill>
                <a:latin typeface="Gill Sans MT"/>
              </a:rPr>
              <a:t>man</a:t>
            </a:r>
            <a:r>
              <a:rPr lang="en-CA" sz="1400" b="0" strike="noStrike" spc="-1" dirty="0">
                <a:solidFill>
                  <a:srgbClr val="000000"/>
                </a:solidFill>
                <a:latin typeface="Gill Sans MT"/>
              </a:rPr>
              <a:t> command to</a:t>
            </a:r>
            <a:r>
              <a:rPr lang="en-CA" dirty="0"/>
              <a:t> </a:t>
            </a:r>
            <a:r>
              <a:rPr lang="en-CA" sz="1400" b="0" strike="noStrike" spc="-1" dirty="0">
                <a:solidFill>
                  <a:srgbClr val="000000"/>
                </a:solidFill>
                <a:latin typeface="Gill Sans MT"/>
              </a:rPr>
              <a:t>help navigate throughout this utility to get help with the specific command.</a:t>
            </a:r>
            <a:endParaRPr lang="en-CA" sz="1400" b="0" strike="noStrike" spc="-1" dirty="0">
              <a:latin typeface="Arial"/>
            </a:endParaRPr>
          </a:p>
        </p:txBody>
      </p:sp>
      <p:graphicFrame>
        <p:nvGraphicFramePr>
          <p:cNvPr id="196" name="Table 3"/>
          <p:cNvGraphicFramePr/>
          <p:nvPr>
            <p:extLst>
              <p:ext uri="{D42A27DB-BD31-4B8C-83A1-F6EECF244321}">
                <p14:modId xmlns:p14="http://schemas.microsoft.com/office/powerpoint/2010/main" val="3588312695"/>
              </p:ext>
            </p:extLst>
          </p:nvPr>
        </p:nvGraphicFramePr>
        <p:xfrm>
          <a:off x="2884080" y="3326356"/>
          <a:ext cx="6423840" cy="2224800"/>
        </p:xfrm>
        <a:graphic>
          <a:graphicData uri="http://schemas.openxmlformats.org/drawingml/2006/table">
            <a:tbl>
              <a:tblPr/>
              <a:tblGrid>
                <a:gridCol w="247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>
                          <a:solidFill>
                            <a:srgbClr val="FFFFFF"/>
                          </a:solidFill>
                          <a:latin typeface="Gill Sans MT"/>
                        </a:rPr>
                        <a:t>Keyboard Shortcut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Gill Sans MT"/>
                        </a:rPr>
                        <a:t>Purpose</a:t>
                      </a:r>
                      <a:endParaRPr lang="en-CA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ENTER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Move down one line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 dirty="0">
                          <a:solidFill>
                            <a:srgbClr val="000000"/>
                          </a:solidFill>
                          <a:latin typeface="Gill Sans MT"/>
                        </a:rPr>
                        <a:t>SPACEBAR</a:t>
                      </a:r>
                      <a:endParaRPr lang="en-CA" sz="1400" b="0" strike="noStrike" spc="-1" dirty="0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Move one screen down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&lt;ctrl&gt;&lt;b&gt;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Move one screen up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/pattern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Search for Pattern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q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0" strike="noStrike" spc="-1" dirty="0">
                          <a:solidFill>
                            <a:srgbClr val="000000"/>
                          </a:solidFill>
                          <a:latin typeface="Gill Sans MT"/>
                        </a:rPr>
                        <a:t>quit man utility</a:t>
                      </a:r>
                      <a:endParaRPr lang="en-CA" sz="1400" b="0" strike="noStrike" spc="-1" dirty="0">
                        <a:latin typeface="Arial"/>
                      </a:endParaRPr>
                    </a:p>
                  </a:txBody>
                  <a:tcPr marL="28440" marR="28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4" descr="Icon&#10;&#10;Description automatically generated"/>
          <p:cNvPicPr/>
          <p:nvPr/>
        </p:nvPicPr>
        <p:blipFill>
          <a:blip r:embed="rId2"/>
          <a:stretch/>
        </p:blipFill>
        <p:spPr>
          <a:xfrm>
            <a:off x="10438336" y="451943"/>
            <a:ext cx="1231647" cy="111458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Managing Directories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1451520" y="1871420"/>
            <a:ext cx="5898240" cy="2052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 dirty="0">
                <a:solidFill>
                  <a:srgbClr val="000000"/>
                </a:solidFill>
                <a:latin typeface="Gill Sans MT"/>
              </a:rPr>
              <a:t>Instructor Demonstration</a:t>
            </a:r>
            <a:endParaRPr lang="en-CA" sz="24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600" b="0" strike="noStrike" spc="-1" dirty="0">
                <a:solidFill>
                  <a:srgbClr val="000000"/>
                </a:solidFill>
                <a:latin typeface="Gill Sans MT"/>
              </a:rPr>
              <a:t>Your instructor will demonstrate how to use the </a:t>
            </a:r>
            <a:r>
              <a:rPr lang="en-CA" sz="1600" b="1" strike="noStrike" spc="-1" dirty="0">
                <a:solidFill>
                  <a:srgbClr val="000000"/>
                </a:solidFill>
                <a:latin typeface="Gill Sans MT"/>
              </a:rPr>
              <a:t>man</a:t>
            </a:r>
            <a:r>
              <a:rPr lang="en-CA" sz="1600" b="0" strike="noStrike" spc="-1" dirty="0">
                <a:solidFill>
                  <a:srgbClr val="000000"/>
                </a:solidFill>
                <a:latin typeface="Gill Sans MT"/>
              </a:rPr>
              <a:t> pages.</a:t>
            </a:r>
            <a:endParaRPr lang="en-CA" sz="1600" b="0" strike="noStrike" spc="-1" dirty="0">
              <a:latin typeface="Arial"/>
            </a:endParaRPr>
          </a:p>
        </p:txBody>
      </p:sp>
      <p:pic>
        <p:nvPicPr>
          <p:cNvPr id="200" name="Picture 5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0529189" y="462454"/>
            <a:ext cx="1049942" cy="109937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Using your matrix account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1451520" y="1853280"/>
            <a:ext cx="9602640" cy="118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General Linux Commands</a:t>
            </a:r>
            <a:endParaRPr lang="en-CA" sz="20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400" b="0" strike="noStrike" spc="-1" dirty="0">
                <a:solidFill>
                  <a:srgbClr val="000000"/>
                </a:solidFill>
                <a:latin typeface="Gill Sans MT"/>
              </a:rPr>
              <a:t>Your instructor will demonstrate several basic Linux commands to get practice how to issue </a:t>
            </a:r>
            <a:r>
              <a:rPr lang="en-CA" sz="1400" b="1" strike="noStrike" spc="-1" dirty="0">
                <a:solidFill>
                  <a:srgbClr val="000000"/>
                </a:solidFill>
                <a:latin typeface="Gill Sans MT"/>
              </a:rPr>
              <a:t>Linux commands</a:t>
            </a:r>
            <a:br>
              <a:rPr dirty="0"/>
            </a:br>
            <a:r>
              <a:rPr lang="en-CA" sz="1400" b="0" strike="noStrike" spc="-1" dirty="0">
                <a:solidFill>
                  <a:srgbClr val="000000"/>
                </a:solidFill>
                <a:latin typeface="Gill Sans MT"/>
              </a:rPr>
              <a:t>and using </a:t>
            </a:r>
            <a:r>
              <a:rPr lang="en-CA" sz="1400" b="1" strike="noStrike" spc="-1" dirty="0">
                <a:solidFill>
                  <a:srgbClr val="000000"/>
                </a:solidFill>
                <a:latin typeface="Gill Sans MT"/>
              </a:rPr>
              <a:t>arguments</a:t>
            </a:r>
            <a:r>
              <a:rPr lang="en-CA" sz="1400" b="0" strike="noStrike" spc="-1" dirty="0">
                <a:solidFill>
                  <a:srgbClr val="000000"/>
                </a:solidFill>
                <a:latin typeface="Gill Sans MT"/>
              </a:rPr>
              <a:t> and </a:t>
            </a:r>
            <a:r>
              <a:rPr lang="en-CA" sz="1400" b="1" strike="noStrike" spc="-1" dirty="0">
                <a:solidFill>
                  <a:srgbClr val="000000"/>
                </a:solidFill>
                <a:latin typeface="Gill Sans MT"/>
              </a:rPr>
              <a:t>options</a:t>
            </a:r>
            <a:r>
              <a:rPr lang="en-CA" sz="1400" b="0" strike="noStrike" spc="-1" dirty="0">
                <a:solidFill>
                  <a:srgbClr val="000000"/>
                </a:solidFill>
                <a:latin typeface="Gill Sans MT"/>
              </a:rPr>
              <a:t>.</a:t>
            </a:r>
            <a:endParaRPr lang="en-CA" sz="1400" b="0" strike="noStrike" spc="-1" dirty="0">
              <a:latin typeface="Arial"/>
            </a:endParaRPr>
          </a:p>
        </p:txBody>
      </p:sp>
      <p:graphicFrame>
        <p:nvGraphicFramePr>
          <p:cNvPr id="203" name="Table 3"/>
          <p:cNvGraphicFramePr/>
          <p:nvPr>
            <p:extLst>
              <p:ext uri="{D42A27DB-BD31-4B8C-83A1-F6EECF244321}">
                <p14:modId xmlns:p14="http://schemas.microsoft.com/office/powerpoint/2010/main" val="1018720564"/>
              </p:ext>
            </p:extLst>
          </p:nvPr>
        </p:nvGraphicFramePr>
        <p:xfrm>
          <a:off x="2459242" y="3043080"/>
          <a:ext cx="7273515" cy="2817360"/>
        </p:xfrm>
        <a:graphic>
          <a:graphicData uri="http://schemas.openxmlformats.org/drawingml/2006/table">
            <a:tbl>
              <a:tblPr/>
              <a:tblGrid>
                <a:gridCol w="148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FFFFFF"/>
                          </a:solidFill>
                          <a:latin typeface="Gill Sans MT"/>
                        </a:rPr>
                        <a:t>Shortcut Key(s)</a:t>
                      </a:r>
                      <a:endParaRPr lang="en-CA" sz="1100" b="0" strike="noStrike" spc="-1" dirty="0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Gill Sans MT"/>
                        </a:rPr>
                        <a:t>Arguments / Options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Gill Sans MT"/>
                        </a:rPr>
                        <a:t>Purpose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pwd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Display Current Working Directory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cd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 dirty="0" err="1">
                          <a:solidFill>
                            <a:srgbClr val="000000"/>
                          </a:solidFill>
                          <a:latin typeface="Gill Sans MT"/>
                        </a:rPr>
                        <a:t>dir</a:t>
                      </a:r>
                      <a:r>
                        <a:rPr lang="en-US" sz="1100" b="1" strike="noStrike" spc="-1" dirty="0">
                          <a:solidFill>
                            <a:srgbClr val="000000"/>
                          </a:solidFill>
                          <a:latin typeface="Gill Sans MT"/>
                        </a:rPr>
                        <a:t>-pathname</a:t>
                      </a:r>
                      <a:endParaRPr lang="en-CA" sz="1100" b="0" strike="noStrike" spc="-1" dirty="0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Change Directory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000000"/>
                          </a:solidFill>
                          <a:latin typeface="Gill Sans MT"/>
                        </a:rPr>
                        <a:t>ls</a:t>
                      </a:r>
                      <a:endParaRPr lang="en-CA" sz="1100" b="0" strike="noStrike" spc="-1" dirty="0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-l, -a, -R, -d, dir-pathname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List Files of Directory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cal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month, year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Display calendar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date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Display date and time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who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000000"/>
                          </a:solidFill>
                          <a:latin typeface="Gill Sans MT"/>
                        </a:rPr>
                        <a:t>List users logged into server</a:t>
                      </a:r>
                      <a:endParaRPr lang="en-CA" sz="1100" b="0" strike="noStrike" spc="-1" dirty="0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whoami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Display username of user logged in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clear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Clear Screen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passwd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username</a:t>
                      </a:r>
                      <a:endParaRPr lang="en-CA" sz="1100" b="0" strike="noStrike" spc="-1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000000"/>
                          </a:solidFill>
                          <a:latin typeface="Gill Sans MT"/>
                        </a:rPr>
                        <a:t>Change user’s password</a:t>
                      </a:r>
                      <a:endParaRPr lang="en-CA" sz="1100" b="0" strike="noStrike" spc="-1" dirty="0">
                        <a:latin typeface="Arial"/>
                      </a:endParaRPr>
                    </a:p>
                  </a:txBody>
                  <a:tcPr marL="69258" marR="69258" marT="34630" marB="3463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04" name="Picture 4" descr="Graphical user interfac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10622682" y="392425"/>
            <a:ext cx="1054312" cy="105800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Managing Directories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1451520" y="1853280"/>
            <a:ext cx="6760440" cy="2594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 dirty="0">
                <a:solidFill>
                  <a:srgbClr val="000000"/>
                </a:solidFill>
                <a:latin typeface="Gill Sans MT"/>
              </a:rPr>
              <a:t>Instructor Demonstration</a:t>
            </a:r>
            <a:endParaRPr lang="en-CA" sz="24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600" b="0" strike="noStrike" spc="-1" dirty="0">
                <a:solidFill>
                  <a:srgbClr val="000000"/>
                </a:solidFill>
                <a:latin typeface="Gill Sans MT"/>
              </a:rPr>
              <a:t>Your instructor will demonstrate how to </a:t>
            </a:r>
            <a:r>
              <a:rPr lang="en-CA" sz="1600" b="1" strike="noStrike" spc="-1" dirty="0">
                <a:solidFill>
                  <a:srgbClr val="000000"/>
                </a:solidFill>
                <a:latin typeface="Gill Sans MT"/>
              </a:rPr>
              <a:t>issue general Linux commands.</a:t>
            </a:r>
            <a:endParaRPr lang="en-CA" sz="1600" b="0" strike="noStrike" spc="-1" dirty="0">
              <a:latin typeface="Arial"/>
            </a:endParaRPr>
          </a:p>
        </p:txBody>
      </p:sp>
      <p:pic>
        <p:nvPicPr>
          <p:cNvPr id="5" name="Picture 5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0529189" y="462454"/>
            <a:ext cx="1049942" cy="10993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053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Using your matrix account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1451520" y="1883178"/>
            <a:ext cx="9602640" cy="10497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trike="noStrike" spc="-1" dirty="0">
                <a:solidFill>
                  <a:srgbClr val="000000"/>
                </a:solidFill>
                <a:latin typeface="Gill Sans MT"/>
              </a:rPr>
              <a:t>Command Line Editing</a:t>
            </a:r>
            <a:endParaRPr lang="en-CA" sz="20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600" b="0" strike="noStrike" spc="-1" dirty="0">
                <a:solidFill>
                  <a:srgbClr val="000000"/>
                </a:solidFill>
                <a:latin typeface="Gill Sans MT"/>
              </a:rPr>
              <a:t>Learning </a:t>
            </a:r>
            <a:r>
              <a:rPr lang="en-CA" sz="1600" b="1" strike="noStrike" spc="-1" dirty="0">
                <a:solidFill>
                  <a:srgbClr val="000000"/>
                </a:solidFill>
                <a:latin typeface="Gill Sans MT"/>
              </a:rPr>
              <a:t>shortcut keys</a:t>
            </a:r>
            <a:r>
              <a:rPr lang="en-CA" sz="1600" b="0" strike="noStrike" spc="-1" dirty="0">
                <a:solidFill>
                  <a:srgbClr val="000000"/>
                </a:solidFill>
                <a:latin typeface="Gill Sans MT"/>
              </a:rPr>
              <a:t> in any OS terminal will allow you to be more productive as a sysadmin. </a:t>
            </a:r>
            <a:br>
              <a:rPr dirty="0"/>
            </a:br>
            <a:r>
              <a:rPr lang="en-CA" sz="1600" b="0" strike="noStrike" spc="-1" dirty="0">
                <a:solidFill>
                  <a:srgbClr val="000000"/>
                </a:solidFill>
                <a:latin typeface="Gill Sans MT"/>
              </a:rPr>
              <a:t>We will only focus on a few command line editing keyboard shortcut keys.</a:t>
            </a:r>
            <a:endParaRPr lang="en-CA" sz="1600" b="0" strike="noStrike" spc="-1" dirty="0">
              <a:latin typeface="Arial"/>
            </a:endParaRPr>
          </a:p>
        </p:txBody>
      </p:sp>
      <p:graphicFrame>
        <p:nvGraphicFramePr>
          <p:cNvPr id="207" name="Table 3"/>
          <p:cNvGraphicFramePr/>
          <p:nvPr>
            <p:extLst>
              <p:ext uri="{D42A27DB-BD31-4B8C-83A1-F6EECF244321}">
                <p14:modId xmlns:p14="http://schemas.microsoft.com/office/powerpoint/2010/main" val="591985152"/>
              </p:ext>
            </p:extLst>
          </p:nvPr>
        </p:nvGraphicFramePr>
        <p:xfrm>
          <a:off x="1553040" y="2985120"/>
          <a:ext cx="6516762" cy="2840654"/>
        </p:xfrm>
        <a:graphic>
          <a:graphicData uri="http://schemas.openxmlformats.org/drawingml/2006/table">
            <a:tbl>
              <a:tblPr/>
              <a:tblGrid>
                <a:gridCol w="278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Gill Sans MT"/>
                        </a:rPr>
                        <a:t>Shortcut Key(s)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Gill Sans MT"/>
                        </a:rPr>
                        <a:t>Purpose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&lt;ctrl&gt;&lt;l&gt;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Clear Screen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&lt;ctrl&gt;&lt;u&gt;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Clear Command Line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6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&lt;Up Arrow&gt; 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,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&lt;Down Arrow&gt;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Scroll Up / Down Command History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&lt;backspace&gt; 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,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&lt;ctrl&gt;&lt;backspace&gt; 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,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&lt;ctrl&gt;&lt;h&gt;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Gill Sans MT"/>
                        </a:rPr>
                        <a:t>Delete character before the cursor</a:t>
                      </a:r>
                      <a:endParaRPr lang="en-CA" sz="1200" b="0" strike="noStrike" spc="-1" dirty="0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&lt;ctrl&gt;&lt;w&gt;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Delete word before the cursor 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&lt;ctrl&gt;&lt;a&gt;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Move cursor to beginning of command line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&lt;ctrl&gt;&lt;e&gt;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Move cursor to end of command line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87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Courier New"/>
                        </a:rPr>
                        <a:t>&lt;alt&gt;f/&lt;alt&gt;b</a:t>
                      </a:r>
                      <a:br>
                        <a:rPr sz="1500"/>
                      </a:b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(Mac: </a:t>
                      </a:r>
                      <a:r>
                        <a:rPr lang="en-CA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OPTION+Right/Left-Arrow)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Gill Sans MT"/>
                        </a:rPr>
                        <a:t>Move Forward/Backward one word</a:t>
                      </a:r>
                      <a:endParaRPr lang="en-CA" sz="1200" b="0" strike="noStrike" spc="-1" dirty="0">
                        <a:latin typeface="Arial"/>
                      </a:endParaRPr>
                    </a:p>
                  </a:txBody>
                  <a:tcPr marL="75752" marR="75752" marT="37876" marB="3787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08" name="Picture 5" descr="Shape&#10;&#10;Description automatically generated with low confidence"/>
          <p:cNvPicPr/>
          <p:nvPr/>
        </p:nvPicPr>
        <p:blipFill>
          <a:blip r:embed="rId2"/>
          <a:stretch/>
        </p:blipFill>
        <p:spPr>
          <a:xfrm>
            <a:off x="10885680" y="609848"/>
            <a:ext cx="835560" cy="831914"/>
          </a:xfrm>
          <a:prstGeom prst="rect">
            <a:avLst/>
          </a:prstGeom>
          <a:ln>
            <a:noFill/>
          </a:ln>
        </p:spPr>
      </p:pic>
      <p:sp>
        <p:nvSpPr>
          <p:cNvPr id="209" name="CustomShape 4"/>
          <p:cNvSpPr/>
          <p:nvPr/>
        </p:nvSpPr>
        <p:spPr>
          <a:xfrm>
            <a:off x="8723880" y="3233695"/>
            <a:ext cx="2161800" cy="1568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0000"/>
                </a:solidFill>
                <a:latin typeface="Gill Sans MT"/>
                <a:ea typeface="DejaVu Sans"/>
              </a:rPr>
              <a:t>NOTE:</a:t>
            </a:r>
            <a:br>
              <a:rPr dirty="0"/>
            </a:br>
            <a:r>
              <a:rPr lang="en-US" sz="1200" b="0" strike="noStrike" spc="-1" dirty="0">
                <a:solidFill>
                  <a:srgbClr val="000000"/>
                </a:solidFill>
                <a:latin typeface="Gill Sans MT"/>
                <a:ea typeface="DejaVu Sans"/>
              </a:rPr>
              <a:t>If you are using a </a:t>
            </a:r>
            <a:r>
              <a:rPr lang="en-US" sz="1200" b="1" strike="noStrike" spc="-1" dirty="0">
                <a:solidFill>
                  <a:srgbClr val="000000"/>
                </a:solidFill>
                <a:latin typeface="Gill Sans MT"/>
                <a:ea typeface="DejaVu Sans"/>
              </a:rPr>
              <a:t>Graphical SSH application</a:t>
            </a:r>
            <a:r>
              <a:rPr lang="en-US" sz="1200" b="0" strike="noStrike" spc="-1" dirty="0">
                <a:solidFill>
                  <a:srgbClr val="000000"/>
                </a:solidFill>
                <a:latin typeface="Gill Sans MT"/>
                <a:ea typeface="DejaVu Sans"/>
              </a:rPr>
              <a:t>, you may need to configure the application (META settings) to NOT bring up menus by mistake when you issue some of these shortcuts.</a:t>
            </a:r>
            <a:endParaRPr lang="en-CA" sz="1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Managing Directories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1451520" y="1853280"/>
            <a:ext cx="6760440" cy="2594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 dirty="0">
                <a:solidFill>
                  <a:srgbClr val="000000"/>
                </a:solidFill>
                <a:latin typeface="Gill Sans MT"/>
              </a:rPr>
              <a:t>Instructor Demonstration</a:t>
            </a:r>
            <a:endParaRPr lang="en-CA" sz="24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600" b="0" strike="noStrike" spc="-1" dirty="0">
                <a:solidFill>
                  <a:srgbClr val="000000"/>
                </a:solidFill>
                <a:latin typeface="Gill Sans MT"/>
              </a:rPr>
              <a:t>Your instructor will demonstrate how to perform </a:t>
            </a:r>
            <a:r>
              <a:rPr lang="en-CA" sz="1600" b="1" strike="noStrike" spc="-1" dirty="0">
                <a:solidFill>
                  <a:srgbClr val="000000"/>
                </a:solidFill>
                <a:latin typeface="Gill Sans MT"/>
              </a:rPr>
              <a:t>command line editing.</a:t>
            </a:r>
            <a:endParaRPr lang="en-CA" sz="1600" b="0" strike="noStrike" spc="-1" dirty="0">
              <a:latin typeface="Arial"/>
            </a:endParaRPr>
          </a:p>
        </p:txBody>
      </p:sp>
      <p:pic>
        <p:nvPicPr>
          <p:cNvPr id="5" name="Picture 5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0529189" y="462454"/>
            <a:ext cx="1049942" cy="109937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Getting practice issuing linux commands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1451520" y="1873440"/>
            <a:ext cx="7145942" cy="39059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00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700" b="1" strike="noStrike" spc="-1" dirty="0">
                <a:solidFill>
                  <a:srgbClr val="000000"/>
                </a:solidFill>
                <a:latin typeface="Gill Sans MT"/>
              </a:rPr>
              <a:t>Weekly Tutorials / Linux Practice Questions</a:t>
            </a:r>
            <a:endParaRPr lang="en-US" sz="2700" b="1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There are </a:t>
            </a:r>
            <a:r>
              <a:rPr lang="en-US" sz="1800" b="1" strike="noStrike" spc="-1">
                <a:solidFill>
                  <a:srgbClr val="000000"/>
                </a:solidFill>
                <a:latin typeface="Gill Sans MT"/>
              </a:rPr>
              <a:t>Weekly</a:t>
            </a: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Gill Sans MT"/>
              </a:rPr>
              <a:t>Tutorials</a:t>
            </a: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that are required to be completed by students for a </a:t>
            </a:r>
            <a:r>
              <a:rPr lang="en-US" sz="1800" b="1" strike="noStrike" spc="-1" dirty="0">
                <a:solidFill>
                  <a:srgbClr val="000000"/>
                </a:solidFill>
                <a:latin typeface="Gill Sans MT"/>
              </a:rPr>
              <a:t>2%</a:t>
            </a: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 grade</a:t>
            </a:r>
            <a:r>
              <a:rPr lang="en-US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for </a:t>
            </a:r>
            <a:r>
              <a:rPr lang="en-US" sz="1800" b="0" u="sng" strike="noStrike" spc="-1" dirty="0">
                <a:solidFill>
                  <a:srgbClr val="000000"/>
                </a:solidFill>
                <a:latin typeface="Gill Sans MT"/>
              </a:rPr>
              <a:t>each</a:t>
            </a: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 tutorial. These tutorials are usually due by the following week by Friday @ midnight. </a:t>
            </a:r>
            <a:endParaRPr lang="en-US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pc="-1" dirty="0">
                <a:solidFill>
                  <a:srgbClr val="000000"/>
                </a:solidFill>
                <a:latin typeface="Gill Sans MT"/>
              </a:rPr>
              <a:t>These tutorials are designed to provide you </a:t>
            </a:r>
            <a:r>
              <a:rPr lang="en-CA" b="1" spc="-1" dirty="0">
                <a:solidFill>
                  <a:srgbClr val="000000"/>
                </a:solidFill>
                <a:latin typeface="Gill Sans MT"/>
              </a:rPr>
              <a:t>guided hands-on practice</a:t>
            </a:r>
            <a:r>
              <a:rPr lang="en-CA" spc="-1" dirty="0">
                <a:solidFill>
                  <a:srgbClr val="000000"/>
                </a:solidFill>
                <a:latin typeface="Gill Sans MT"/>
              </a:rPr>
              <a:t> with Linux commands and operations that will help you get </a:t>
            </a:r>
            <a:r>
              <a:rPr lang="en-CA" b="1" spc="-1" dirty="0">
                <a:solidFill>
                  <a:srgbClr val="000000"/>
                </a:solidFill>
                <a:latin typeface="Gill Sans MT"/>
              </a:rPr>
              <a:t>troubleshooting</a:t>
            </a:r>
            <a:r>
              <a:rPr lang="en-CA" spc="-1" dirty="0">
                <a:solidFill>
                  <a:srgbClr val="000000"/>
                </a:solidFill>
                <a:latin typeface="Gill Sans MT"/>
              </a:rPr>
              <a:t> practice.</a:t>
            </a:r>
            <a:endParaRPr lang="en-US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Gill Sans MT"/>
              </a:rPr>
              <a:t>NOTE:  </a:t>
            </a: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Students that do NOT complete ALL parts of each weekly tutorial will </a:t>
            </a:r>
            <a:b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</a:b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NOT obtain the full 2% grade.</a:t>
            </a:r>
            <a:endParaRPr lang="en-CA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Gill Sans MT"/>
              </a:rPr>
              <a:t>Linux Practice Questions </a:t>
            </a:r>
            <a:r>
              <a:rPr lang="en-US" sz="1800" b="0" strike="noStrike" spc="-1" dirty="0">
                <a:solidFill>
                  <a:srgbClr val="000000"/>
                </a:solidFill>
                <a:latin typeface="Gill Sans MT"/>
              </a:rPr>
              <a:t>are at the end of each weekly tutorial.  </a:t>
            </a:r>
            <a:r>
              <a:rPr lang="en-US" spc="-1" dirty="0">
                <a:solidFill>
                  <a:srgbClr val="000000"/>
                </a:solidFill>
                <a:latin typeface="Gill Sans MT"/>
              </a:rPr>
              <a:t>Although these practice Linux questions are NOT for marks, they are useful for studying for quizzes and tests.</a:t>
            </a:r>
            <a:endParaRPr lang="en-CA" sz="1800" b="0" strike="noStrike" spc="-1" dirty="0">
              <a:latin typeface="Arial"/>
            </a:endParaRPr>
          </a:p>
        </p:txBody>
      </p:sp>
      <p:pic>
        <p:nvPicPr>
          <p:cNvPr id="215" name="Picture 4" descr="Text&#10;&#10;Description automatically generated"/>
          <p:cNvPicPr/>
          <p:nvPr/>
        </p:nvPicPr>
        <p:blipFill>
          <a:blip r:embed="rId2"/>
          <a:stretch/>
        </p:blipFill>
        <p:spPr>
          <a:xfrm>
            <a:off x="11054160" y="620110"/>
            <a:ext cx="859126" cy="917619"/>
          </a:xfrm>
          <a:prstGeom prst="rect">
            <a:avLst/>
          </a:prstGeom>
          <a:ln>
            <a:noFill/>
          </a:ln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5DA7A62-DCE7-7DF2-B472-3404EF11C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341" y="2502412"/>
            <a:ext cx="3248026" cy="11813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Getting practice issuing linux commands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1451520" y="1883950"/>
            <a:ext cx="7135432" cy="39059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50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1" spc="-1" dirty="0">
                <a:solidFill>
                  <a:srgbClr val="000000"/>
                </a:solidFill>
                <a:latin typeface="Gill Sans MT"/>
              </a:rPr>
              <a:t>Review Tutorials 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Is a </a:t>
            </a:r>
            <a:r>
              <a:rPr lang="en-US" sz="2400" b="1" spc="-1" dirty="0">
                <a:solidFill>
                  <a:srgbClr val="000000"/>
                </a:solidFill>
                <a:latin typeface="Gill Sans MT"/>
              </a:rPr>
              <a:t>Review Tutorial module </a:t>
            </a: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that students perform to answer questions to test their Unix/Linux Knowledge. The review tutorial is </a:t>
            </a:r>
            <a:r>
              <a:rPr lang="en-US" sz="2400" b="1" spc="-1" dirty="0">
                <a:solidFill>
                  <a:srgbClr val="000000"/>
                </a:solidFill>
                <a:latin typeface="Gill Sans MT"/>
              </a:rPr>
              <a:t>worth a total of 10%</a:t>
            </a: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 which is broken down into </a:t>
            </a:r>
            <a:r>
              <a:rPr lang="en-US" sz="2400" b="1" spc="-1" dirty="0">
                <a:solidFill>
                  <a:srgbClr val="000000"/>
                </a:solidFill>
                <a:latin typeface="Gill Sans MT"/>
              </a:rPr>
              <a:t>2 general sections </a:t>
            </a: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worth </a:t>
            </a:r>
            <a:r>
              <a:rPr lang="en-US" sz="2400" b="1" spc="-1" dirty="0">
                <a:solidFill>
                  <a:srgbClr val="000000"/>
                </a:solidFill>
                <a:latin typeface="Gill Sans MT"/>
              </a:rPr>
              <a:t>5%</a:t>
            </a: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As students correctly answer questions within a section, they can proceed to the next section. If the student cannot answer a question, they cannot proceed to the next question.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Students will need to successfully complete ALL sections in order to receive the 10% grade. This review tutorial module is </a:t>
            </a:r>
            <a:r>
              <a:rPr lang="en-US" sz="2400" b="1" spc="-1" dirty="0">
                <a:solidFill>
                  <a:srgbClr val="000000"/>
                </a:solidFill>
                <a:latin typeface="Gill Sans MT"/>
              </a:rPr>
              <a:t>due at the end of the semester </a:t>
            </a: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(refer to the Weekly Schedule for the due date).</a:t>
            </a:r>
          </a:p>
        </p:txBody>
      </p:sp>
      <p:pic>
        <p:nvPicPr>
          <p:cNvPr id="215" name="Picture 4" descr="Text&#10;&#10;Description automatically generated"/>
          <p:cNvPicPr/>
          <p:nvPr/>
        </p:nvPicPr>
        <p:blipFill>
          <a:blip r:embed="rId2"/>
          <a:stretch/>
        </p:blipFill>
        <p:spPr>
          <a:xfrm>
            <a:off x="11054160" y="620110"/>
            <a:ext cx="859126" cy="917619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9D5675-6131-A5A8-893C-BF6E8F3A2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182" y="2669626"/>
            <a:ext cx="3153104" cy="183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3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Getting practice issuing linux commands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1451520" y="1961964"/>
            <a:ext cx="6662466" cy="39061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20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600" b="1" strike="noStrike" spc="-1" dirty="0">
                <a:solidFill>
                  <a:srgbClr val="000000"/>
                </a:solidFill>
                <a:latin typeface="Gill Sans MT"/>
              </a:rPr>
              <a:t>Need Additional Help?  Try the Learning Centre: </a:t>
            </a:r>
            <a:br>
              <a:rPr dirty="0"/>
            </a:br>
            <a:r>
              <a:rPr lang="en-CA" sz="1900" b="1" u="sng" spc="-1" dirty="0">
                <a:solidFill>
                  <a:srgbClr val="FA2B5C"/>
                </a:solidFill>
                <a:latin typeface="Gill Sans MT"/>
                <a:hlinkClick r:id="rId2"/>
              </a:rPr>
              <a:t>https://library.senecacollege.ca/learningcentre</a:t>
            </a:r>
            <a:br>
              <a:rPr lang="en-CA" sz="1900" b="1" u="sng" spc="-1" dirty="0">
                <a:solidFill>
                  <a:srgbClr val="FA2B5C"/>
                </a:solidFill>
                <a:latin typeface="Gill Sans MT"/>
              </a:rPr>
            </a:br>
            <a:br>
              <a:rPr lang="en-CA" sz="1900" b="1" u="sng" spc="-1" dirty="0">
                <a:solidFill>
                  <a:srgbClr val="FA2B5C"/>
                </a:solidFill>
                <a:latin typeface="Gill Sans MT"/>
              </a:rPr>
            </a:br>
            <a:r>
              <a:rPr lang="en-CA" sz="1700" b="1" strike="noStrike" spc="-1" dirty="0">
                <a:solidFill>
                  <a:srgbClr val="000000"/>
                </a:solidFill>
                <a:latin typeface="Gill Sans MT"/>
              </a:rPr>
              <a:t>ONE-ON-ONE TUTORING</a:t>
            </a:r>
            <a:br>
              <a:rPr dirty="0"/>
            </a:br>
            <a:r>
              <a:rPr lang="en-CA" sz="1700" b="0" strike="noStrike" spc="-1" dirty="0">
                <a:solidFill>
                  <a:srgbClr val="000000"/>
                </a:solidFill>
                <a:latin typeface="Gill Sans MT"/>
              </a:rPr>
              <a:t>Appointments focused on your individual needs that explain course concepts.</a:t>
            </a:r>
            <a:endParaRPr lang="en-CA" sz="17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700" b="1" strike="noStrike" spc="-1" dirty="0">
                <a:solidFill>
                  <a:srgbClr val="000000"/>
                </a:solidFill>
                <a:latin typeface="Gill Sans MT"/>
              </a:rPr>
              <a:t>SUPPORTED LEARNING GROUPS (SLG)</a:t>
            </a:r>
            <a:br>
              <a:rPr dirty="0"/>
            </a:br>
            <a:r>
              <a:rPr lang="en-CA" sz="1700" b="0" strike="noStrike" spc="-1" dirty="0">
                <a:solidFill>
                  <a:srgbClr val="000000"/>
                </a:solidFill>
                <a:latin typeface="Gill Sans MT"/>
              </a:rPr>
              <a:t>Student-led and collaborative study sessions that review practical examples based </a:t>
            </a:r>
            <a:br>
              <a:rPr dirty="0"/>
            </a:br>
            <a:r>
              <a:rPr lang="en-CA" sz="1700" b="0" strike="noStrike" spc="-1" dirty="0">
                <a:solidFill>
                  <a:srgbClr val="000000"/>
                </a:solidFill>
                <a:latin typeface="Gill Sans MT"/>
              </a:rPr>
              <a:t>on the course’s content. Link: </a:t>
            </a:r>
            <a:r>
              <a:rPr lang="en-CA" sz="1700" b="0" u="sng" strike="noStrike" spc="-1" dirty="0">
                <a:solidFill>
                  <a:srgbClr val="FA2B5C"/>
                </a:solidFill>
                <a:uFillTx/>
                <a:latin typeface="Gill Sans MT"/>
                <a:hlinkClick r:id="rId3"/>
              </a:rPr>
              <a:t>https://library.senecacollege.ca/learningcentre/slg</a:t>
            </a:r>
            <a:endParaRPr lang="en-CA" sz="17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700" b="1" strike="noStrike" spc="-1" dirty="0">
                <a:solidFill>
                  <a:srgbClr val="000000"/>
                </a:solidFill>
                <a:latin typeface="Gill Sans MT"/>
              </a:rPr>
              <a:t>ENGLISH LANGUAGE SUPPORT</a:t>
            </a:r>
            <a:br>
              <a:rPr dirty="0"/>
            </a:br>
            <a:r>
              <a:rPr lang="en-CA" sz="1700" b="0" strike="noStrike" spc="-1" dirty="0">
                <a:solidFill>
                  <a:srgbClr val="000000"/>
                </a:solidFill>
                <a:latin typeface="Gill Sans MT"/>
              </a:rPr>
              <a:t>Offered through individual appointments or group learning sessions to focus on grammar,</a:t>
            </a:r>
            <a:br>
              <a:rPr dirty="0"/>
            </a:br>
            <a:r>
              <a:rPr lang="en-CA" sz="1700" b="0" strike="noStrike" spc="-1" dirty="0">
                <a:solidFill>
                  <a:srgbClr val="000000"/>
                </a:solidFill>
                <a:latin typeface="Gill Sans MT"/>
              </a:rPr>
              <a:t> academic writing, conversation, and pronunciation.</a:t>
            </a:r>
            <a:endParaRPr lang="en-CA" sz="17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700" b="1" strike="noStrike" spc="-1" dirty="0">
                <a:solidFill>
                  <a:srgbClr val="000000"/>
                </a:solidFill>
                <a:latin typeface="Gill Sans MT"/>
              </a:rPr>
              <a:t>STUDY SKILLS</a:t>
            </a:r>
            <a:br>
              <a:rPr dirty="0"/>
            </a:br>
            <a:r>
              <a:rPr lang="en-CA" sz="1700" b="0" strike="noStrike" spc="-1" dirty="0">
                <a:solidFill>
                  <a:srgbClr val="000000"/>
                </a:solidFill>
                <a:latin typeface="Gill Sans MT"/>
              </a:rPr>
              <a:t>Learn time management, exam preparation, critical thinking, note-taking, and reading.</a:t>
            </a:r>
            <a:br>
              <a:rPr lang="en-CA" sz="1700" b="0" strike="noStrike" spc="-1" dirty="0">
                <a:solidFill>
                  <a:srgbClr val="000000"/>
                </a:solidFill>
                <a:latin typeface="Gill Sans MT"/>
              </a:rPr>
            </a:br>
            <a:br>
              <a:rPr lang="en-CA" sz="1700" b="0" strike="noStrike" spc="-1" dirty="0">
                <a:solidFill>
                  <a:srgbClr val="000000"/>
                </a:solidFill>
                <a:latin typeface="Gill Sans MT"/>
              </a:rPr>
            </a:br>
            <a:endParaRPr lang="en-CA" sz="1700" b="0" strike="noStrike" spc="-1" dirty="0">
              <a:latin typeface="Arial"/>
            </a:endParaRPr>
          </a:p>
        </p:txBody>
      </p:sp>
      <p:pic>
        <p:nvPicPr>
          <p:cNvPr id="2" name="Picture 1" descr="Help Button Red · Free vector graphic on Pixabay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45" y="695916"/>
            <a:ext cx="927633" cy="778433"/>
          </a:xfrm>
          <a:prstGeom prst="rect">
            <a:avLst/>
          </a:prstGeom>
        </p:spPr>
      </p:pic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F64B1970-74F4-1562-47F1-348DF6045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345" y="2385796"/>
            <a:ext cx="2797815" cy="30585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29AC-DEC4-1147-BF51-3849E59A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Command History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F4C7A-3854-7B4B-8D4F-4AD959A5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06813"/>
            <a:ext cx="10300154" cy="475577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b="1" dirty="0"/>
              <a:t>Command History: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The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~/.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bash_history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file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stores recently executed command lines.</a:t>
            </a:r>
            <a:br>
              <a:rPr lang="en-CA" dirty="0"/>
            </a:br>
            <a:br>
              <a:rPr lang="en-CA" dirty="0"/>
            </a:br>
            <a:r>
              <a:rPr lang="en-CA" dirty="0"/>
              <a:t>There are several techniques using the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~/.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bash_history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file to run</a:t>
            </a:r>
            <a:br>
              <a:rPr lang="en-CA" dirty="0"/>
            </a:br>
            <a:r>
              <a:rPr lang="en-CA" dirty="0"/>
              <a:t>previously-issued commands..</a:t>
            </a:r>
            <a:br>
              <a:rPr lang="en-CA" dirty="0"/>
            </a:br>
            <a:endParaRPr lang="en-CA" dirty="0"/>
          </a:p>
          <a:p>
            <a:pPr marL="0" indent="0">
              <a:buNone/>
            </a:pPr>
            <a:r>
              <a:rPr lang="en-CA" i="1" dirty="0"/>
              <a:t>Examples:</a:t>
            </a:r>
          </a:p>
          <a:p>
            <a:pPr marL="0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&lt;up&gt;</a:t>
            </a:r>
            <a:r>
              <a:rPr lang="en-CA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CA" dirty="0"/>
              <a:t>or </a:t>
            </a: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&lt;down&gt;</a:t>
            </a:r>
            <a:r>
              <a:rPr lang="en-CA" b="1" dirty="0">
                <a:solidFill>
                  <a:srgbClr val="0070C0"/>
                </a:solidFill>
              </a:rPr>
              <a:t>     </a:t>
            </a:r>
            <a:r>
              <a:rPr lang="en-CA" dirty="0"/>
              <a:t>move to </a:t>
            </a:r>
            <a:r>
              <a:rPr lang="en-CA" b="1" dirty="0"/>
              <a:t>previous</a:t>
            </a:r>
            <a:r>
              <a:rPr lang="en-CA" dirty="0"/>
              <a:t> or </a:t>
            </a:r>
            <a:r>
              <a:rPr lang="en-CA" b="1" dirty="0"/>
              <a:t>next</a:t>
            </a:r>
            <a:r>
              <a:rPr lang="en-CA" dirty="0"/>
              <a:t> command in Bash shell prompt</a:t>
            </a:r>
          </a:p>
          <a:p>
            <a:pPr marL="0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–l</a:t>
            </a:r>
            <a:r>
              <a:rPr lang="en-CA" b="1" dirty="0">
                <a:solidFill>
                  <a:srgbClr val="0070C0"/>
                </a:solidFill>
              </a:rPr>
              <a:t>                          </a:t>
            </a:r>
            <a:r>
              <a:rPr lang="en-CA" dirty="0"/>
              <a:t>display last </a:t>
            </a:r>
            <a:r>
              <a:rPr lang="en-CA" b="1" dirty="0"/>
              <a:t>16 </a:t>
            </a:r>
            <a:r>
              <a:rPr lang="en-CA" dirty="0"/>
              <a:t>commands</a:t>
            </a:r>
          </a:p>
          <a:p>
            <a:pPr marL="0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history | more</a:t>
            </a:r>
            <a:r>
              <a:rPr lang="en-CA" b="1" dirty="0">
                <a:solidFill>
                  <a:srgbClr val="0070C0"/>
                </a:solidFill>
              </a:rPr>
              <a:t>      </a:t>
            </a:r>
            <a:r>
              <a:rPr lang="en-CA" dirty="0"/>
              <a:t>display all stored commands</a:t>
            </a:r>
          </a:p>
          <a:p>
            <a:pPr marL="0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!#</a:t>
            </a:r>
            <a:r>
              <a:rPr lang="en-CA" b="1" dirty="0"/>
              <a:t>                                re-executes</a:t>
            </a:r>
            <a:r>
              <a:rPr lang="en-CA" dirty="0"/>
              <a:t> command by command number (obtained from </a:t>
            </a:r>
            <a:r>
              <a:rPr lang="en-CA" i="1" dirty="0"/>
              <a:t>history</a:t>
            </a:r>
            <a:r>
              <a:rPr lang="en-CA" dirty="0"/>
              <a:t> command)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CA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CA" b="1" dirty="0">
                <a:solidFill>
                  <a:srgbClr val="0070C0"/>
                </a:solidFill>
              </a:rPr>
              <a:t>                           </a:t>
            </a:r>
            <a:r>
              <a:rPr lang="en-CA" b="1" dirty="0"/>
              <a:t>re-executes</a:t>
            </a:r>
            <a:r>
              <a:rPr lang="en-CA" dirty="0"/>
              <a:t> last command beginning with string ”</a:t>
            </a:r>
            <a:r>
              <a:rPr lang="en-CA" i="1" dirty="0" err="1"/>
              <a:t>abc</a:t>
            </a:r>
            <a:r>
              <a:rPr lang="en-CA" dirty="0"/>
              <a:t>”</a:t>
            </a:r>
            <a:br>
              <a:rPr lang="en-CA" dirty="0"/>
            </a:br>
            <a:br>
              <a:rPr lang="en-CA" dirty="0"/>
            </a:b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7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29AC-DEC4-1147-BF51-3849E59A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Command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F4C7A-3854-7B4B-8D4F-4AD959A5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706813"/>
            <a:ext cx="5898782" cy="47557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2400" b="1" dirty="0"/>
              <a:t>Instructor Demonstration</a:t>
            </a:r>
            <a:br>
              <a:rPr lang="en-CA" b="1" dirty="0"/>
            </a:br>
            <a:endParaRPr lang="en-CA" b="1" dirty="0"/>
          </a:p>
          <a:p>
            <a:pPr marL="0" indent="0">
              <a:buNone/>
            </a:pPr>
            <a:r>
              <a:rPr lang="en-CA" dirty="0"/>
              <a:t>Your instructor will now demonstrate how to use and access your </a:t>
            </a:r>
            <a:r>
              <a:rPr lang="en-CA" b="1" dirty="0"/>
              <a:t>command history</a:t>
            </a:r>
            <a:r>
              <a:rPr lang="en-CA" dirty="0"/>
              <a:t>.</a:t>
            </a: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48FF1EA4-638D-2E42-96CA-18AA908DA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35411" y="1853754"/>
            <a:ext cx="1210020" cy="121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46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 dirty="0">
                <a:solidFill>
                  <a:srgbClr val="000000"/>
                </a:solidFill>
                <a:latin typeface="Gill Sans MT"/>
              </a:rPr>
              <a:t>HOMEWORK</a:t>
            </a:r>
            <a:endParaRPr lang="en-CA" sz="3200" b="0" strike="noStrike" spc="-1" dirty="0">
              <a:latin typeface="Arial"/>
            </a:endParaRPr>
          </a:p>
        </p:txBody>
      </p:sp>
      <p:sp>
        <p:nvSpPr>
          <p:cNvPr id="237" name="CustomShape 2"/>
          <p:cNvSpPr/>
          <p:nvPr/>
        </p:nvSpPr>
        <p:spPr>
          <a:xfrm>
            <a:off x="1451520" y="1968690"/>
            <a:ext cx="9602640" cy="37751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6500"/>
          </a:bodyPr>
          <a:lstStyle/>
          <a:p>
            <a:pPr marL="457200" indent="-4559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Gill Sans MT"/>
              <a:buAutoNum type="arabicPeriod"/>
            </a:pP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Get acquainted with the </a:t>
            </a:r>
            <a:r>
              <a:rPr lang="en-US" sz="2400" b="1" spc="-1">
                <a:solidFill>
                  <a:srgbClr val="000000"/>
                </a:solidFill>
                <a:latin typeface="Gill Sans MT"/>
              </a:rPr>
              <a:t>OPS145 Lab website,</a:t>
            </a: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notes</a:t>
            </a: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, 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tutorials</a:t>
            </a: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 and 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resources</a:t>
            </a: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.</a:t>
            </a:r>
            <a:endParaRPr lang="en-CA" sz="2400" b="0" strike="noStrike" spc="-1" dirty="0">
              <a:latin typeface="Arial"/>
            </a:endParaRPr>
          </a:p>
          <a:p>
            <a:pPr marL="457200" indent="-45648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Gill Sans MT"/>
              <a:buAutoNum type="arabicPeriod"/>
            </a:pP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Perform the following investigations in 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Tutorial #1</a:t>
            </a:r>
            <a:br>
              <a:rPr lang="en-US" sz="2400" spc="-1" dirty="0">
                <a:solidFill>
                  <a:srgbClr val="000000"/>
                </a:solidFill>
                <a:latin typeface="Gill Sans MT"/>
              </a:rPr>
            </a:br>
            <a:r>
              <a:rPr lang="en-US" sz="2400" b="1" spc="-1" dirty="0">
                <a:solidFill>
                  <a:srgbClr val="000000"/>
                </a:solidFill>
                <a:latin typeface="Gill Sans MT"/>
              </a:rPr>
              <a:t>(Due: Friday Week 2 @ midnight for a 2% grade)</a:t>
            </a:r>
            <a:r>
              <a:rPr lang="en-US" sz="2400" spc="-1" dirty="0">
                <a:solidFill>
                  <a:srgbClr val="000000"/>
                </a:solidFill>
                <a:latin typeface="Gill Sans MT"/>
              </a:rPr>
              <a:t>:</a:t>
            </a:r>
            <a:endParaRPr lang="en-CA" sz="2400" spc="-1" dirty="0"/>
          </a:p>
          <a:p>
            <a:pPr marL="685800" lvl="1" indent="-22733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lang="en-CA" sz="2100" b="0" u="sng" strike="noStrike" spc="-1" dirty="0">
                <a:solidFill>
                  <a:srgbClr val="FA2B5C"/>
                </a:solidFill>
                <a:uFillTx/>
                <a:latin typeface="Gill Sans MT"/>
                <a:hlinkClick r:id="rId2"/>
              </a:rPr>
              <a:t>INVESTIGATION 2: USING THE LINUX SHELL / ONLINE ASSIGNMENTS</a:t>
            </a:r>
            <a:endParaRPr lang="en-CA" sz="2100" spc="-1" dirty="0">
              <a:hlinkClick r:id="rId2"/>
            </a:endParaRPr>
          </a:p>
          <a:p>
            <a:pPr marL="685800" lvl="1" indent="-22733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lang="en-CA" sz="2000" b="0" u="sng" strike="noStrike" spc="-1" dirty="0">
                <a:solidFill>
                  <a:srgbClr val="FA2B5C"/>
                </a:solidFill>
                <a:uFillTx/>
                <a:latin typeface="Gill Sans MT"/>
                <a:hlinkClick r:id="rId3"/>
              </a:rPr>
              <a:t>LINUX PRACTICE QUESTIONS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400" strike="noStrike" spc="-1">
                <a:solidFill>
                  <a:srgbClr val="000000"/>
                </a:solidFill>
                <a:latin typeface="Gill Sans MT"/>
              </a:rPr>
              <a:t>(Questions 1 – 9)</a:t>
            </a:r>
            <a:endParaRPr lang="en-CA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0caacb-b95b-4725-aa24-bc89bdc630be">
      <Terms xmlns="http://schemas.microsoft.com/office/infopath/2007/PartnerControls"/>
    </lcf76f155ced4ddcb4097134ff3c332f>
    <TaxCatchAll xmlns="7127244f-425d-47e9-ac84-f3130e19f0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63C3818C603C4E8FACEDDCB496AECF" ma:contentTypeVersion="9" ma:contentTypeDescription="Create a new document." ma:contentTypeScope="" ma:versionID="a06f37d012f27ac6faeab03c4b554419">
  <xsd:schema xmlns:xsd="http://www.w3.org/2001/XMLSchema" xmlns:xs="http://www.w3.org/2001/XMLSchema" xmlns:p="http://schemas.microsoft.com/office/2006/metadata/properties" xmlns:ns2="c10caacb-b95b-4725-aa24-bc89bdc630be" xmlns:ns3="7127244f-425d-47e9-ac84-f3130e19f0cb" targetNamespace="http://schemas.microsoft.com/office/2006/metadata/properties" ma:root="true" ma:fieldsID="e2e4d438ce7bda7458c7c9e4f06908ff" ns2:_="" ns3:_="">
    <xsd:import namespace="c10caacb-b95b-4725-aa24-bc89bdc630be"/>
    <xsd:import namespace="7127244f-425d-47e9-ac84-f3130e19f0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0caacb-b95b-4725-aa24-bc89bdc630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68e675e-7f51-40c4-b007-fcb928a1bb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27244f-425d-47e9-ac84-f3130e19f0c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99bf807-153c-4f33-8b51-d0637107e922}" ma:internalName="TaxCatchAll" ma:showField="CatchAllData" ma:web="7127244f-425d-47e9-ac84-f3130e19f0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6AF0CF-FDA3-4AA4-9332-98E33F5883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3C5921-79AF-40A8-B6AB-FEB38AF98A65}">
  <ds:schemaRefs>
    <ds:schemaRef ds:uri="http://schemas.microsoft.com/office/2006/metadata/properties"/>
    <ds:schemaRef ds:uri="http://schemas.microsoft.com/office/infopath/2007/PartnerControls"/>
    <ds:schemaRef ds:uri="c10caacb-b95b-4725-aa24-bc89bdc630be"/>
    <ds:schemaRef ds:uri="7127244f-425d-47e9-ac84-f3130e19f0cb"/>
  </ds:schemaRefs>
</ds:datastoreItem>
</file>

<file path=customXml/itemProps3.xml><?xml version="1.0" encoding="utf-8"?>
<ds:datastoreItem xmlns:ds="http://schemas.openxmlformats.org/officeDocument/2006/customXml" ds:itemID="{96053C9C-D247-41E8-99AA-FE07E85892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0caacb-b95b-4725-aa24-bc89bdc630be"/>
    <ds:schemaRef ds:uri="7127244f-425d-47e9-ac84-f3130e19f0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{3D71E03E-4654-1148-BF73-F9F4AFE5A21B}tf10001119</Template>
  <TotalTime>6925</TotalTime>
  <Words>1226</Words>
  <Application>Microsoft Office PowerPoint</Application>
  <PresentationFormat>Widescreen</PresentationFormat>
  <Paragraphs>125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Command History</vt:lpstr>
      <vt:lpstr>Command History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SYST28296</dc:title>
  <dc:subject/>
  <dc:creator>Saul, Jennifer</dc:creator>
  <dc:description/>
  <cp:lastModifiedBy>Chris Johnson</cp:lastModifiedBy>
  <cp:revision>701</cp:revision>
  <dcterms:created xsi:type="dcterms:W3CDTF">2019-04-25T17:31:46Z</dcterms:created>
  <dcterms:modified xsi:type="dcterms:W3CDTF">2023-12-29T20:18:36Z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48</vt:i4>
  </property>
  <property fmtid="{D5CDD505-2E9C-101B-9397-08002B2CF9AE}" pid="12" name="ContentTypeId">
    <vt:lpwstr>0x010100B163C3818C603C4E8FACEDDCB496AECF</vt:lpwstr>
  </property>
  <property fmtid="{D5CDD505-2E9C-101B-9397-08002B2CF9AE}" pid="13" name="MediaServiceImageTags">
    <vt:lpwstr/>
  </property>
</Properties>
</file>