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257" r:id="rId7"/>
    <p:sldId id="258" r:id="rId8"/>
    <p:sldId id="259" r:id="rId9"/>
    <p:sldId id="260" r:id="rId10"/>
    <p:sldId id="286" r:id="rId11"/>
    <p:sldId id="287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6"/>
    <p:sldId id="277" r:id="rId27"/>
    <p:sldId id="278" r:id="rId28"/>
    <p:sldId id="279" r:id="rId29"/>
    <p:sldId id="284" r:id="rId30"/>
    <p:sldId id="280" r:id="rId31"/>
    <p:sldId id="290" r:id="rId32"/>
    <p:sldId id="288" r:id="rId33"/>
    <p:sldId id="289" r:id="rId34"/>
    <p:sldId id="282" r:id="rId35"/>
    <p:sldId id="285" r:id="rId3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FCA82-C38E-4F48-A58A-89D95CA0433B}" v="5" dt="2023-12-29T20:12:42.180"/>
    <p1510:client id="{14FF0511-EAC5-4A33-9897-E7BFA974D3B7}" v="5" dt="2023-12-29T20:09:19.730"/>
    <p1510:client id="{4D1C950C-AF8B-47ED-8DCC-7669FEB9BA9D}" v="1" dt="2023-12-30T19:39:57.569"/>
    <p1510:client id="{94D35858-B16D-364D-A262-AAE962BC3A1C}" v="3" dt="2022-01-09T18:43:58.694"/>
    <p1510:client id="{C3361560-F636-4961-AD25-2990AEB3886A}" v="11" dt="2023-12-29T20:10:49.727"/>
    <p1510:client id="{D21BCF31-F09C-4437-98FB-1ED43441792B}" v="13" dt="2023-12-30T19:39:18.917"/>
    <p1510:client id="{DF355593-E802-4165-A5F7-C5E4DFEB5F36}" v="1" dt="2023-12-29T20:13:33.397"/>
    <p1510:client id="{E5F642ED-4E47-4E0E-A27C-A03F8C71DDB0}" v="255" dt="2023-12-29T20:03:05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357F-A277-7442-BEE7-4FE250216E54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2BE6-C510-F641-8D21-F1C49E24602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9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0" y="2019600"/>
            <a:ext cx="12191400" cy="410508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" name="Picture 6"/>
          <p:cNvPicPr/>
          <p:nvPr/>
        </p:nvPicPr>
        <p:blipFill>
          <a:blip r:embed="rId14"/>
          <a:srcRect t="1526" b="-1526"/>
          <a:stretch/>
        </p:blipFill>
        <p:spPr>
          <a:xfrm>
            <a:off x="0" y="6126480"/>
            <a:ext cx="12191400" cy="742320"/>
          </a:xfrm>
          <a:prstGeom prst="rect">
            <a:avLst/>
          </a:prstGeom>
          <a:ln>
            <a:noFill/>
          </a:ln>
        </p:spPr>
      </p:pic>
      <p:sp>
        <p:nvSpPr>
          <p:cNvPr id="2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Line 3"/>
          <p:cNvSpPr/>
          <p:nvPr/>
        </p:nvSpPr>
        <p:spPr>
          <a:xfrm>
            <a:off x="2417760" y="3528360"/>
            <a:ext cx="863676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2640" cy="1048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CA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2019600"/>
            <a:ext cx="12191400" cy="410508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3" name="Picture 6"/>
          <p:cNvPicPr/>
          <p:nvPr/>
        </p:nvPicPr>
        <p:blipFill>
          <a:blip r:embed="rId15"/>
          <a:srcRect t="1526" b="-1526"/>
          <a:stretch/>
        </p:blipFill>
        <p:spPr>
          <a:xfrm>
            <a:off x="0" y="6126480"/>
            <a:ext cx="12191400" cy="742320"/>
          </a:xfrm>
          <a:prstGeom prst="rect">
            <a:avLst/>
          </a:prstGeom>
          <a:ln>
            <a:noFill/>
          </a:ln>
        </p:spPr>
      </p:pic>
      <p:sp>
        <p:nvSpPr>
          <p:cNvPr id="44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Line 3"/>
          <p:cNvSpPr/>
          <p:nvPr/>
        </p:nvSpPr>
        <p:spPr>
          <a:xfrm>
            <a:off x="1453680" y="1846800"/>
            <a:ext cx="960768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CA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3.0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rix.senecacollege.ca/~ops145" TargetMode="External"/><Relationship Id="rId2" Type="http://schemas.openxmlformats.org/officeDocument/2006/relationships/hyperlink" Target="https://learn.senecacollege.ca/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hyperlink" Target="http://en.tldp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pps.senecacollege.ca/ssos/findOutline.do?schoolCode=SICT&amp;subjectCode=OPS145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mcarman.github.io/OPS145/B-ExtraResources/course-policies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.senecapolytechnic.ca/spaces/186/it-services/wiki/view/1024/vpn" TargetMode="External"/><Relationship Id="rId2" Type="http://schemas.openxmlformats.org/officeDocument/2006/relationships/hyperlink" Target="https://en.wikipedia.org/wiki/Multi-factor_authentication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tudents.senecapolytechnic.ca/spaces/190/support/wiki/view/1473/contact-its" TargetMode="Externa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cdot.senecacollege.ca/wiki/File:Apps-anywhere-main-window.png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jmcarman.github.io/OPS145/weekly-schedule" TargetMode="External"/><Relationship Id="rId2" Type="http://schemas.openxmlformats.org/officeDocument/2006/relationships/hyperlink" Target="https://matrix.senecacollege.ca/~ops145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gif"/><Relationship Id="rId4" Type="http://schemas.openxmlformats.org/officeDocument/2006/relationships/hyperlink" Target="https://jmcarman.github.io/OPS145/A-Tutorials/tutorial1a#investigation-1-accessing-your-matrix-linux-accou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960784" y="1682980"/>
            <a:ext cx="9419405" cy="35244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0" anchor="b">
            <a:normAutofit/>
          </a:bodyPr>
          <a:lstStyle/>
          <a:p>
            <a:pPr>
              <a:spcAft>
                <a:spcPts val="1199"/>
              </a:spcAft>
            </a:pPr>
            <a:r>
              <a:rPr lang="en-US" sz="2400" cap="all" spc="-1">
                <a:solidFill>
                  <a:srgbClr val="000000"/>
                </a:solidFill>
                <a:latin typeface="Gill Sans MT"/>
              </a:rPr>
              <a:t>  </a:t>
            </a:r>
            <a:r>
              <a:rPr lang="en-US" sz="2400" cap="all" spc="-1">
                <a:solidFill>
                  <a:srgbClr val="000000"/>
                </a:solidFill>
                <a:ea typeface="+mn-lt"/>
                <a:cs typeface="+mn-lt"/>
              </a:rPr>
              <a:t>OPS145</a:t>
            </a:r>
            <a:r>
              <a:rPr lang="en-US" sz="2400" b="0" strike="noStrike" cap="all" spc="-1">
                <a:solidFill>
                  <a:srgbClr val="000000"/>
                </a:solidFill>
                <a:latin typeface="Gill Sans MT"/>
              </a:rPr>
              <a:t>:</a:t>
            </a:r>
            <a:r>
              <a:rPr lang="en-US" sz="2400" cap="all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US" sz="2400" b="0" strike="noStrike" cap="all" spc="-1">
                <a:solidFill>
                  <a:srgbClr val="000000"/>
                </a:solidFill>
                <a:latin typeface="Gill Sans MT"/>
              </a:rPr>
              <a:t> Introduction to Unix / Linux</a:t>
            </a:r>
            <a:r>
              <a:rPr lang="en-US" sz="2400" cap="all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US" sz="2400" b="0" strike="noStrike" cap="all" spc="-1">
                <a:solidFill>
                  <a:srgbClr val="000000"/>
                </a:solidFill>
                <a:latin typeface="Gill Sans MT"/>
              </a:rPr>
              <a:t> and the Internet</a:t>
            </a:r>
            <a:br>
              <a:rPr/>
            </a:br>
            <a:r>
              <a:rPr lang="en-US" sz="1200" b="0" strike="noStrike" cap="all" spc="-1">
                <a:solidFill>
                  <a:srgbClr val="000000"/>
                </a:solidFill>
                <a:latin typeface="Gill Sans MT"/>
              </a:rPr>
              <a:t> </a:t>
            </a:r>
            <a:br>
              <a:rPr/>
            </a:br>
            <a:r>
              <a:rPr lang="en-US" sz="2200" cap="all" spc="-1">
                <a:solidFill>
                  <a:srgbClr val="000000"/>
                </a:solidFill>
                <a:latin typeface="Gill Sans MT"/>
              </a:rPr>
              <a:t>  </a:t>
            </a:r>
            <a:br>
              <a:rPr lang="en-US"/>
            </a:br>
            <a:r>
              <a:rPr lang="en-US" sz="2200" cap="all" spc="-1">
                <a:solidFill>
                  <a:srgbClr val="000000"/>
                </a:solidFill>
                <a:latin typeface="Gill Sans MT"/>
              </a:rPr>
              <a:t>  </a:t>
            </a:r>
            <a:r>
              <a:rPr lang="en-US" sz="2200" b="0" strike="noStrike" cap="all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200" b="0" strike="noStrike" cap="all" spc="-1">
                <a:solidFill>
                  <a:srgbClr val="0070C0"/>
                </a:solidFill>
                <a:latin typeface="Gill Sans MT"/>
              </a:rPr>
              <a:t>Week1:</a:t>
            </a:r>
            <a:r>
              <a:rPr lang="en-US" sz="2200" cap="all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US" sz="2200" b="0" strike="noStrike" cap="all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200" b="0" strike="noStrike" cap="all" spc="-1">
                <a:solidFill>
                  <a:srgbClr val="0070C0"/>
                </a:solidFill>
                <a:latin typeface="Gill Sans MT"/>
              </a:rPr>
              <a:t>lesson 1</a:t>
            </a:r>
            <a:br>
              <a:rPr/>
            </a:br>
            <a:br>
              <a:rPr/>
            </a:br>
            <a:r>
              <a:rPr lang="en-US" sz="2200" cap="all" spc="-1">
                <a:solidFill>
                  <a:srgbClr val="000000"/>
                </a:solidFill>
                <a:latin typeface="Gill Sans MT"/>
              </a:rPr>
              <a:t>  </a:t>
            </a:r>
            <a:r>
              <a:rPr lang="en-US" sz="2200" b="0" strike="noStrike" cap="all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200" b="0" strike="noStrike" cap="all" spc="-1">
                <a:solidFill>
                  <a:srgbClr val="0070C0"/>
                </a:solidFill>
                <a:latin typeface="Gill Sans MT"/>
              </a:rPr>
              <a:t>Course Introduction </a:t>
            </a:r>
            <a:r>
              <a:rPr lang="en-US" sz="2200" b="0" strike="noStrike" cap="all" spc="-1">
                <a:solidFill>
                  <a:srgbClr val="000000"/>
                </a:solidFill>
                <a:latin typeface="Gill Sans MT"/>
              </a:rPr>
              <a:t>/</a:t>
            </a:r>
            <a:r>
              <a:rPr lang="en-US" sz="2200" b="0" strike="noStrike" cap="all" spc="-1">
                <a:solidFill>
                  <a:srgbClr val="0070C0"/>
                </a:solidFill>
                <a:latin typeface="Gill Sans MT"/>
              </a:rPr>
              <a:t> Unix and Linux Background</a:t>
            </a:r>
            <a:br>
              <a:rPr/>
            </a:br>
            <a:r>
              <a:rPr lang="en-US" sz="2200" cap="all" spc="-1">
                <a:solidFill>
                  <a:srgbClr val="0070C0"/>
                </a:solidFill>
                <a:latin typeface="Gill Sans MT"/>
              </a:rPr>
              <a:t>  </a:t>
            </a:r>
            <a:r>
              <a:rPr lang="en-US" sz="2200" b="0" strike="noStrike" cap="all" spc="-1">
                <a:solidFill>
                  <a:srgbClr val="0070C0"/>
                </a:solidFill>
                <a:latin typeface="Gill Sans MT"/>
              </a:rPr>
              <a:t> ACCESSING YOUR Linux Matrix server account</a:t>
            </a:r>
            <a:br>
              <a:rPr/>
            </a:br>
            <a:br>
              <a:rPr/>
            </a:br>
            <a:br>
              <a:rPr/>
            </a:br>
            <a:endParaRPr lang="en-CA" sz="2200" b="0" strike="noStrike" spc="-1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1964880" y="4941720"/>
            <a:ext cx="9089280" cy="977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800" b="0" strike="noStrike" cap="all" spc="-1">
                <a:solidFill>
                  <a:srgbClr val="000000"/>
                </a:solidFill>
                <a:latin typeface="Gill Sans MT"/>
              </a:rPr>
              <a:t>Photos and icons used in this slide show are licensed under </a:t>
            </a:r>
            <a:r>
              <a:rPr lang="en-CA" sz="1800" b="0" u="sng" strike="noStrike" cap="all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CC BY-SA</a:t>
            </a:r>
            <a:endParaRPr lang="en-CA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Lesson 1  topics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1451520" y="1875439"/>
            <a:ext cx="9602640" cy="39366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2">
            <a:normAutofit fontScale="895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Why I Am Taking This Course? (Course Introduction)</a:t>
            </a:r>
            <a:endParaRPr lang="en-CA" sz="20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Instructor Information / Purpose of Course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Foundations For Future Courses (Programming, Networking)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Course Resources / Course Outline </a:t>
            </a:r>
            <a:r>
              <a:rPr lang="en-US" spc="-1">
                <a:solidFill>
                  <a:srgbClr val="000000"/>
                </a:solidFill>
                <a:latin typeface="Gill Sans MT"/>
              </a:rPr>
              <a:t>(</a:t>
            </a: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Course Evaluation) / Course Policies </a:t>
            </a:r>
            <a:endParaRPr lang="en-CA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Background and Features of UNIX and Linux OS</a:t>
            </a:r>
            <a:endParaRPr lang="en-CA" sz="20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Purpose of an OS / History of Unix &amp; Linux OS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Features of Unix / Linux OS</a:t>
            </a:r>
            <a:endParaRPr lang="en-CA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20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Purpose / Layout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Gill Sans MT"/>
              </a:rPr>
              <a:t>How to Access your Matrix Linux Account:</a:t>
            </a:r>
            <a:endParaRPr lang="en-CA" sz="1800" b="0" strike="noStrike" spc="-1">
              <a:latin typeface="Arial"/>
            </a:endParaRPr>
          </a:p>
          <a:p>
            <a:pPr marL="1143000" lvl="2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Gill Sans MT"/>
              </a:rPr>
              <a:t>From </a:t>
            </a:r>
            <a:r>
              <a:rPr lang="en-US" sz="1600" spc="-1">
                <a:solidFill>
                  <a:srgbClr val="000000"/>
                </a:solidFill>
                <a:latin typeface="Gill Sans MT"/>
              </a:rPr>
              <a:t>Home (Windows, Mac OSX, Linux)</a:t>
            </a:r>
            <a:r>
              <a:rPr lang="en-US" sz="1600" b="0" strike="noStrike" spc="-1">
                <a:solidFill>
                  <a:srgbClr val="000000"/>
                </a:solidFill>
                <a:latin typeface="Gill Sans MT"/>
              </a:rPr>
              <a:t> / From Seneca Computer Lab  (via MyApps)</a:t>
            </a:r>
            <a:endParaRPr lang="en-CA" sz="1600" b="0" strike="noStrike" spc="-1">
              <a:latin typeface="Arial"/>
            </a:endParaRPr>
          </a:p>
          <a:p>
            <a:pPr marL="1143000" lvl="2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spc="-1">
                <a:solidFill>
                  <a:srgbClr val="000000"/>
                </a:solidFill>
                <a:latin typeface="Gill Sans MT"/>
              </a:rPr>
              <a:t>How to Logout of your Matrix Linux Account / Getting Assistance (ITS </a:t>
            </a:r>
            <a:r>
              <a:rPr lang="en-US" sz="1600" spc="-1" err="1">
                <a:solidFill>
                  <a:srgbClr val="000000"/>
                </a:solidFill>
                <a:latin typeface="Gill Sans MT"/>
              </a:rPr>
              <a:t>HelpDesk</a:t>
            </a:r>
            <a:r>
              <a:rPr lang="en-US" sz="1600" spc="-1">
                <a:solidFill>
                  <a:srgbClr val="000000"/>
                </a:solidFill>
                <a:latin typeface="Gill Sans MT"/>
              </a:rPr>
              <a:t>)</a:t>
            </a:r>
          </a:p>
          <a:p>
            <a:pPr marL="72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tabLst>
                <a:tab pos="0" algn="l"/>
              </a:tabLst>
            </a:pPr>
            <a:r>
              <a:rPr lang="en-US" sz="2000" b="1" spc="-1">
                <a:solidFill>
                  <a:srgbClr val="000000"/>
                </a:solidFill>
                <a:latin typeface="Gill Sans MT"/>
              </a:rPr>
              <a:t>Homework</a:t>
            </a:r>
            <a:endParaRPr lang="en-CA" sz="2000" spc="-1"/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pc="-1">
                <a:solidFill>
                  <a:srgbClr val="000000"/>
                </a:solidFill>
                <a:latin typeface="Gill Sans MT"/>
              </a:rPr>
              <a:t>Perform </a:t>
            </a:r>
            <a:r>
              <a:rPr lang="en-US" b="1" spc="-1">
                <a:solidFill>
                  <a:srgbClr val="000000"/>
                </a:solidFill>
                <a:latin typeface="Gill Sans MT"/>
              </a:rPr>
              <a:t>Weekly Tutorial 1</a:t>
            </a:r>
            <a:r>
              <a:rPr lang="en-US" spc="-1">
                <a:solidFill>
                  <a:srgbClr val="000000"/>
                </a:solidFill>
                <a:latin typeface="Gill Sans MT"/>
              </a:rPr>
              <a:t> – </a:t>
            </a:r>
            <a:r>
              <a:rPr lang="en-US" b="1" spc="-1">
                <a:solidFill>
                  <a:srgbClr val="000000"/>
                </a:solidFill>
                <a:latin typeface="Gill Sans MT"/>
              </a:rPr>
              <a:t>Investigation #1</a:t>
            </a:r>
            <a:endParaRPr lang="en-CA" spc="-1"/>
          </a:p>
          <a:p>
            <a:pPr marL="72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tabLst>
                <a:tab pos="0" algn="l"/>
              </a:tabLst>
            </a:pPr>
            <a:endParaRPr lang="en-CA" sz="1600" spc="-1">
              <a:solidFill>
                <a:srgbClr val="000000"/>
              </a:solidFill>
              <a:latin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1451520" y="1884318"/>
            <a:ext cx="9602640" cy="40637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Why Am I Taking This Course?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Regardless of the IT program that you are currently registered in, there are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important technical skills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that you must learn in order to be successful in future courses for your program.</a:t>
            </a:r>
            <a:endParaRPr lang="en-CA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In this course, you will learn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core utilities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to work </a:t>
            </a:r>
            <a:r>
              <a:rPr lang="en-CA" sz="2000" b="0" u="sng" strike="noStrike" spc="-1">
                <a:solidFill>
                  <a:srgbClr val="000000"/>
                </a:solidFill>
                <a:uFillTx/>
                <a:latin typeface="Gill Sans MT"/>
              </a:rPr>
              <a:t>productively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in 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Unix / Linux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operating system environment including the following topics:</a:t>
            </a:r>
            <a:endParaRPr lang="en-CA" sz="20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Issuing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Linux commands 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and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 utilities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Manipulating data stored in regular text files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Managing files and directories (including access &amp; permissions)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Writing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basic shell scripts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Configuring login accounts</a:t>
            </a:r>
            <a:endParaRPr lang="en-CA" sz="1800" b="0" strike="noStrike" spc="-1">
              <a:latin typeface="Arial"/>
            </a:endParaRPr>
          </a:p>
        </p:txBody>
      </p:sp>
      <p:pic>
        <p:nvPicPr>
          <p:cNvPr id="90" name="Picture 9" descr="Icon&#10;&#10;Description automatically generated"/>
          <p:cNvPicPr/>
          <p:nvPr/>
        </p:nvPicPr>
        <p:blipFill>
          <a:blip r:embed="rId2"/>
          <a:stretch/>
        </p:blipFill>
        <p:spPr>
          <a:xfrm>
            <a:off x="10734806" y="263047"/>
            <a:ext cx="968656" cy="1267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2"/>
          <p:cNvSpPr/>
          <p:nvPr/>
        </p:nvSpPr>
        <p:spPr>
          <a:xfrm>
            <a:off x="1451520" y="1872203"/>
            <a:ext cx="9602640" cy="13326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Foundation for Future Courses</a:t>
            </a:r>
            <a:endParaRPr lang="en-CA" sz="2400" b="0" strike="noStrike" spc="-1"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The following table shows the various courses that require Linux skills for the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networking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 &amp;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tech support</a:t>
            </a:r>
            <a:r>
              <a:rPr lang="en-CA" b="1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streams.</a:t>
            </a:r>
            <a:br>
              <a:rPr lang="en-CA" sz="1800" b="0" strike="noStrike" spc="-1">
                <a:solidFill>
                  <a:srgbClr val="000000"/>
                </a:solidFill>
                <a:latin typeface="Gill Sans MT"/>
              </a:rPr>
            </a:br>
            <a:endParaRPr lang="en-CA" sz="1800" b="0" strike="noStrike" spc="-1">
              <a:latin typeface="Arial"/>
            </a:endParaRPr>
          </a:p>
        </p:txBody>
      </p:sp>
      <p:graphicFrame>
        <p:nvGraphicFramePr>
          <p:cNvPr id="93" name="Table 3"/>
          <p:cNvGraphicFramePr/>
          <p:nvPr>
            <p:extLst>
              <p:ext uri="{D42A27DB-BD31-4B8C-83A1-F6EECF244321}">
                <p14:modId xmlns:p14="http://schemas.microsoft.com/office/powerpoint/2010/main" val="580974756"/>
              </p:ext>
            </p:extLst>
          </p:nvPr>
        </p:nvGraphicFramePr>
        <p:xfrm>
          <a:off x="1970910" y="3075877"/>
          <a:ext cx="4124940" cy="2449332"/>
        </p:xfrm>
        <a:graphic>
          <a:graphicData uri="http://schemas.openxmlformats.org/drawingml/2006/table">
            <a:tbl>
              <a:tblPr/>
              <a:tblGrid>
                <a:gridCol w="4124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9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5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Networking / Tech Support Stream</a:t>
                      </a:r>
                      <a:endParaRPr lang="en-CA" sz="1500" b="0" strike="noStrike" spc="-1">
                        <a:latin typeface="Arial"/>
                      </a:endParaRPr>
                    </a:p>
                  </a:txBody>
                  <a:tcPr marL="76410" marR="76410" marT="38205" marB="38205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4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OPS245</a:t>
                      </a: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(Intro to Linux Admin)</a:t>
                      </a:r>
                      <a:endParaRPr lang="en-CA" sz="15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OPS345</a:t>
                      </a: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(Network Admin)</a:t>
                      </a:r>
                      <a:endParaRPr lang="en-CA" sz="15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OPS435</a:t>
                      </a: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(Linux Admin Automation)</a:t>
                      </a:r>
                      <a:endParaRPr lang="en-CA" sz="15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CSN500</a:t>
                      </a: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(Capstone Project, formerly NDD430)</a:t>
                      </a:r>
                      <a:endParaRPr lang="en-CA" sz="15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OPS535</a:t>
                      </a: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(Advanced Network Admin)</a:t>
                      </a:r>
                      <a:endParaRPr lang="en-CA" sz="15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OPS635</a:t>
                      </a: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(Enterprise Management)</a:t>
                      </a:r>
                      <a:br>
                        <a:rPr sz="1500"/>
                      </a:br>
                      <a:endParaRPr lang="en-CA" sz="15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+ Pro-Option Courses</a:t>
                      </a:r>
                      <a:endParaRPr lang="en-CA" sz="15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CA" sz="1500" b="0" strike="noStrike" spc="-1">
                        <a:latin typeface="Arial"/>
                      </a:endParaRPr>
                    </a:p>
                  </a:txBody>
                  <a:tcPr marL="76410" marR="76410" marT="38205" marB="38205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4" name="Picture 4" descr="A picture containing light, outdoor, step&#10;&#10;Description automatically generated"/>
          <p:cNvPicPr/>
          <p:nvPr/>
        </p:nvPicPr>
        <p:blipFill>
          <a:blip r:embed="rId2"/>
          <a:stretch/>
        </p:blipFill>
        <p:spPr>
          <a:xfrm>
            <a:off x="10734804" y="372600"/>
            <a:ext cx="1312595" cy="1193153"/>
          </a:xfrm>
          <a:prstGeom prst="rect">
            <a:avLst/>
          </a:prstGeom>
          <a:ln>
            <a:noFill/>
          </a:ln>
        </p:spPr>
      </p:pic>
      <p:sp>
        <p:nvSpPr>
          <p:cNvPr id="6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2"/>
          <p:cNvSpPr/>
          <p:nvPr/>
        </p:nvSpPr>
        <p:spPr>
          <a:xfrm>
            <a:off x="1478148" y="1870811"/>
            <a:ext cx="9576011" cy="9194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8000" b="1" strike="noStrike" spc="-1">
                <a:solidFill>
                  <a:srgbClr val="000000"/>
                </a:solidFill>
                <a:latin typeface="Gill Sans MT"/>
              </a:rPr>
              <a:t>Course Resources</a:t>
            </a:r>
            <a:br>
              <a:rPr lang="en-CA" sz="2400" b="1" strike="noStrike" spc="-1">
                <a:solidFill>
                  <a:srgbClr val="000000"/>
                </a:solidFill>
                <a:latin typeface="Gill Sans MT"/>
              </a:rPr>
            </a:br>
            <a:r>
              <a:rPr lang="en-CA" sz="6000" spc="-1">
                <a:solidFill>
                  <a:srgbClr val="000000"/>
                </a:solidFill>
                <a:latin typeface="Gill Sans MT" panose="020B0502020104020203" pitchFamily="34" charset="0"/>
              </a:rPr>
              <a:t>The following table shows resources that students can use to learn topics for this course.</a:t>
            </a:r>
            <a:br>
              <a:rPr lang="en-CA" sz="6000" spc="-1">
                <a:solidFill>
                  <a:srgbClr val="000000"/>
                </a:solidFill>
                <a:latin typeface="Gill Sans MT" panose="020B0502020104020203" pitchFamily="34" charset="0"/>
              </a:rPr>
            </a:br>
            <a:r>
              <a:rPr lang="en-CA" sz="6000" spc="-1">
                <a:solidFill>
                  <a:srgbClr val="000000"/>
                </a:solidFill>
                <a:latin typeface="Gill Sans MT" panose="020B0502020104020203" pitchFamily="34" charset="0"/>
              </a:rPr>
              <a:t>The first two resources are considered critical for successful course completion.</a:t>
            </a:r>
            <a:endParaRPr lang="en-CA" sz="6000" b="0" strike="noStrike" spc="-1">
              <a:latin typeface="Gill Sans MT" panose="020B0502020104020203" pitchFamily="34" charset="0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400" b="0" strike="noStrike" spc="-1">
              <a:latin typeface="Arial"/>
            </a:endParaRPr>
          </a:p>
        </p:txBody>
      </p:sp>
      <p:graphicFrame>
        <p:nvGraphicFramePr>
          <p:cNvPr id="97" name="Table 3"/>
          <p:cNvGraphicFramePr/>
          <p:nvPr>
            <p:extLst>
              <p:ext uri="{D42A27DB-BD31-4B8C-83A1-F6EECF244321}">
                <p14:modId xmlns:p14="http://schemas.microsoft.com/office/powerpoint/2010/main" val="3326457076"/>
              </p:ext>
            </p:extLst>
          </p:nvPr>
        </p:nvGraphicFramePr>
        <p:xfrm>
          <a:off x="2088333" y="2823370"/>
          <a:ext cx="8015333" cy="2902592"/>
        </p:xfrm>
        <a:graphic>
          <a:graphicData uri="http://schemas.openxmlformats.org/drawingml/2006/table">
            <a:tbl>
              <a:tblPr/>
              <a:tblGrid>
                <a:gridCol w="3596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6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Resources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Gill Sans MT"/>
                        </a:rPr>
                        <a:t>Purpose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689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3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Blackboard</a:t>
                      </a:r>
                      <a:b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</a:b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(Learning Content Management System)</a:t>
                      </a:r>
                      <a:br>
                        <a:rPr lang="en-US" sz="1400"/>
                      </a:br>
                      <a:r>
                        <a:rPr lang="en-US" sz="1200" b="1" u="sng" strike="noStrike" spc="-1">
                          <a:solidFill>
                            <a:srgbClr val="FA2B5C"/>
                          </a:solidFill>
                          <a:uFillTx/>
                          <a:latin typeface="Gill Sans MT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https://learn.</a:t>
                      </a:r>
                      <a:r>
                        <a:rPr lang="en-US" sz="1200" b="1" u="sng" strike="noStrike" spc="-1">
                          <a:solidFill>
                            <a:srgbClr val="FA2B5C"/>
                          </a:solidFill>
                          <a:uFillTx/>
                          <a:latin typeface="Gill Sans MT"/>
                          <a:hlinkClick r:id="rId2"/>
                        </a:rPr>
                        <a:t>senecapo</a:t>
                      </a:r>
                      <a:r>
                        <a:rPr lang="en-US" sz="1200" b="1" u="sng" strike="noStrike" spc="-1">
                          <a:solidFill>
                            <a:srgbClr val="FA2B5C"/>
                          </a:solidFill>
                          <a:uFillTx/>
                          <a:latin typeface="Gill Sans MT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lytechnic.</a:t>
                      </a:r>
                      <a:r>
                        <a:rPr lang="en-US" sz="1200" b="1" u="sng" strike="noStrike" spc="-1">
                          <a:solidFill>
                            <a:srgbClr val="FA2B5C"/>
                          </a:solidFill>
                          <a:uFillTx/>
                          <a:latin typeface="Gill Sans MT"/>
                        </a:rPr>
                        <a:t>ca</a:t>
                      </a:r>
                      <a:endParaRPr lang="en-US" sz="1200" b="0" strike="noStrike" spc="-1">
                        <a:latin typeface="+mn-lt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115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Course Marks 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(located in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Gradebook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)</a:t>
                      </a:r>
                      <a:endParaRPr lang="en-CA" sz="1200" b="0" strike="noStrike" spc="-1">
                        <a:latin typeface="+mn-lt"/>
                      </a:endParaRPr>
                    </a:p>
                    <a:p>
                      <a:pPr marL="285750" indent="-285115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Link to the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OPS145 Labs</a:t>
                      </a:r>
                    </a:p>
                    <a:p>
                      <a:pPr marL="285840" marR="0" lvl="0" indent="-2851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Online Quizzes / Online Tests</a:t>
                      </a:r>
                      <a:endParaRPr lang="en-CA" sz="1200" b="0" strike="noStrike" spc="-1">
                        <a:latin typeface="+mn-lt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lang="en-CA" sz="1200" b="0" strike="noStrike" spc="-1">
                        <a:latin typeface="+mn-lt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072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OPS145 Labs:</a:t>
                      </a:r>
                      <a:br>
                        <a:rPr lang="en-US" sz="1400"/>
                      </a:br>
                      <a:r>
                        <a:rPr lang="en-US" sz="1200" b="1" u="sng" strike="noStrike" spc="-1">
                          <a:solidFill>
                            <a:srgbClr val="FA2B5C"/>
                          </a:solidFill>
                          <a:uFillTx/>
                          <a:latin typeface="Gill Sans MT"/>
                          <a:hlinkClick r:id="rId3"/>
                        </a:rPr>
                        <a:t>https://matrix.senecacollege.ca/~ops145</a:t>
                      </a:r>
                      <a:endParaRPr lang="en-US" sz="1200" b="0" strike="noStrike" spc="-1"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CA" sz="1200" b="0" strike="noStrike" spc="-1">
                        <a:latin typeface="Arial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Course Outline 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/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Course Policies</a:t>
                      </a:r>
                      <a:endParaRPr lang="en-CA" sz="1200" b="0" strike="noStrike" spc="-1">
                        <a:latin typeface="+mn-lt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Weekly Schedule</a:t>
                      </a: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Course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notes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,</a:t>
                      </a: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Tutorials (weekly, review)</a:t>
                      </a: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Practice questions</a:t>
                      </a:r>
                      <a:endParaRPr lang="en-CA" sz="1200" b="0" strike="noStrike" spc="-1">
                        <a:latin typeface="+mn-lt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lang="en-CA" sz="1200" b="0" strike="noStrike" spc="-1">
                        <a:latin typeface="Arial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A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The Linux Documentation Project</a:t>
                      </a:r>
                      <a:endParaRPr lang="en-CA" sz="12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200" b="1" u="sng" strike="noStrike" spc="-1">
                          <a:solidFill>
                            <a:srgbClr val="FA2B5C"/>
                          </a:solidFill>
                          <a:uFillTx/>
                          <a:latin typeface="Gill Sans MT"/>
                          <a:hlinkClick r:id="rId4"/>
                        </a:rPr>
                        <a:t>http://en.tldp.org/</a:t>
                      </a:r>
                      <a:endParaRPr lang="en-CA" sz="1200" b="1" strike="noStrike" spc="-1">
                        <a:latin typeface="Arial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Vast online Linux Documentation</a:t>
                      </a:r>
                      <a:endParaRPr lang="en-CA" sz="12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HOWTOs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,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Guides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, </a:t>
                      </a: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FAQ</a:t>
                      </a: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s</a:t>
                      </a:r>
                      <a:endParaRPr lang="en-CA" sz="1200" b="0" strike="noStrike" spc="-1">
                        <a:latin typeface="Arial"/>
                      </a:endParaRPr>
                    </a:p>
                  </a:txBody>
                  <a:tcPr marL="71173" marR="71173" marT="35586" marB="35586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3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0" name="Picture 6" descr="Logo&#10;&#10;Description automatically generated"/>
          <p:cNvPicPr/>
          <p:nvPr/>
        </p:nvPicPr>
        <p:blipFill>
          <a:blip r:embed="rId5"/>
          <a:stretch/>
        </p:blipFill>
        <p:spPr>
          <a:xfrm>
            <a:off x="10523727" y="388110"/>
            <a:ext cx="1060866" cy="1089962"/>
          </a:xfrm>
          <a:prstGeom prst="rect">
            <a:avLst/>
          </a:prstGeom>
          <a:ln>
            <a:noFill/>
          </a:ln>
        </p:spPr>
      </p:pic>
      <p:sp>
        <p:nvSpPr>
          <p:cNvPr id="6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F4C7A-3854-7B4B-8D4F-4AD959A5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952" y="1938915"/>
            <a:ext cx="7183243" cy="4009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Gill Sans MT" panose="020B0502020104020203" pitchFamily="34" charset="0"/>
              </a:rPr>
              <a:t>Blackboard</a:t>
            </a:r>
            <a:endParaRPr lang="en-US"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The </a:t>
            </a:r>
            <a:r>
              <a:rPr lang="en-US" sz="2400" b="1">
                <a:latin typeface="Gill Sans MT" panose="020B0502020104020203" pitchFamily="34" charset="0"/>
              </a:rPr>
              <a:t>Blackboard</a:t>
            </a:r>
            <a:r>
              <a:rPr lang="en-US" sz="2400">
                <a:latin typeface="Gill Sans MT" panose="020B0502020104020203" pitchFamily="34" charset="0"/>
              </a:rPr>
              <a:t> online application is used to view notes and recorded lectures, perform optional online tutorials, perform tests and quizzes.</a:t>
            </a:r>
          </a:p>
          <a:p>
            <a:pPr marL="0" indent="0">
              <a:buNone/>
            </a:pPr>
            <a:r>
              <a:rPr lang="en-US" sz="2400">
                <a:latin typeface="Gill Sans MT" panose="020B0502020104020203" pitchFamily="34" charset="0"/>
              </a:rPr>
              <a:t>To access course materials in Blackboard:</a:t>
            </a:r>
          </a:p>
          <a:p>
            <a:pPr lvl="1"/>
            <a:r>
              <a:rPr lang="en-US" sz="2000" b="1">
                <a:latin typeface="Gill Sans MT"/>
              </a:rPr>
              <a:t>Enter the following in a web-browser: </a:t>
            </a:r>
            <a:r>
              <a:rPr lang="en-US" sz="2000" b="1">
                <a:solidFill>
                  <a:srgbClr val="0070C0"/>
                </a:solidFill>
                <a:latin typeface="Gill Sans MT"/>
              </a:rPr>
              <a:t>learn.senecapolytechnic.ca</a:t>
            </a:r>
          </a:p>
          <a:p>
            <a:pPr lvl="1"/>
            <a:r>
              <a:rPr lang="en-US" sz="2000" b="1">
                <a:latin typeface="Gill Sans MT" panose="020B0502020104020203" pitchFamily="34" charset="0"/>
              </a:rPr>
              <a:t>Enter your username and password</a:t>
            </a:r>
            <a:br>
              <a:rPr lang="en-US" sz="2000" b="1">
                <a:latin typeface="Gill Sans MT" panose="020B0502020104020203" pitchFamily="34" charset="0"/>
              </a:rPr>
            </a:br>
            <a:r>
              <a:rPr lang="en-US" sz="2000">
                <a:latin typeface="Gill Sans MT" panose="020B0502020104020203" pitchFamily="34" charset="0"/>
              </a:rPr>
              <a:t>(You should have been provided a </a:t>
            </a:r>
            <a:r>
              <a:rPr lang="en-US" sz="2000" b="1">
                <a:latin typeface="Gill Sans MT" panose="020B0502020104020203" pitchFamily="34" charset="0"/>
              </a:rPr>
              <a:t>username</a:t>
            </a:r>
            <a:r>
              <a:rPr lang="en-US" sz="2000">
                <a:latin typeface="Gill Sans MT" panose="020B0502020104020203" pitchFamily="34" charset="0"/>
              </a:rPr>
              <a:t> and </a:t>
            </a:r>
            <a:r>
              <a:rPr lang="en-US" sz="2000" b="1">
                <a:latin typeface="Gill Sans MT" panose="020B0502020104020203" pitchFamily="34" charset="0"/>
              </a:rPr>
              <a:t>password</a:t>
            </a:r>
            <a:r>
              <a:rPr lang="en-US" sz="2000">
                <a:latin typeface="Gill Sans MT" panose="020B0502020104020203" pitchFamily="34" charset="0"/>
              </a:rPr>
              <a:t> to gain access to this resource by the College)</a:t>
            </a:r>
            <a:endParaRPr lang="en-US" sz="20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63484" y="2295528"/>
            <a:ext cx="1744003" cy="14649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373" y="4048018"/>
            <a:ext cx="2861922" cy="16098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3" descr="A picture containing drawing&#10;&#10;Description automatically generated"/>
          <p:cNvPicPr/>
          <p:nvPr/>
        </p:nvPicPr>
        <p:blipFill>
          <a:blip r:embed="rId4"/>
          <a:stretch/>
        </p:blipFill>
        <p:spPr>
          <a:xfrm>
            <a:off x="10535486" y="534841"/>
            <a:ext cx="1037347" cy="1030912"/>
          </a:xfrm>
          <a:prstGeom prst="rect">
            <a:avLst/>
          </a:prstGeom>
          <a:ln>
            <a:noFill/>
          </a:ln>
        </p:spPr>
      </p:pic>
      <p:sp>
        <p:nvSpPr>
          <p:cNvPr id="9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989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F4C7A-3854-7B4B-8D4F-4AD959A5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8682"/>
            <a:ext cx="6373904" cy="3946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Gill Sans MT" panose="020B0502020104020203" pitchFamily="34" charset="0"/>
              </a:rPr>
              <a:t>Faculty Information </a:t>
            </a:r>
          </a:p>
          <a:p>
            <a:pPr marL="0" indent="0">
              <a:buNone/>
            </a:pPr>
            <a:r>
              <a:rPr lang="en-US" sz="2000">
                <a:latin typeface="Gill Sans MT" panose="020B0502020104020203" pitchFamily="34" charset="0"/>
              </a:rPr>
              <a:t>Please note and record the following information in class </a:t>
            </a:r>
            <a:br>
              <a:rPr lang="en-US" sz="2000">
                <a:latin typeface="Gill Sans MT" panose="020B0502020104020203" pitchFamily="34" charset="0"/>
              </a:rPr>
            </a:br>
            <a:r>
              <a:rPr lang="en-US" sz="2000">
                <a:latin typeface="Gill Sans MT" panose="020B0502020104020203" pitchFamily="34" charset="0"/>
              </a:rPr>
              <a:t>(Select </a:t>
            </a:r>
            <a:r>
              <a:rPr lang="en-US" sz="2000" b="1">
                <a:latin typeface="Gill Sans MT" panose="020B0502020104020203" pitchFamily="34" charset="0"/>
              </a:rPr>
              <a:t>Course Orientation </a:t>
            </a:r>
            <a:r>
              <a:rPr lang="en-US" sz="2000">
                <a:latin typeface="Gill Sans MT" panose="020B0502020104020203" pitchFamily="34" charset="0"/>
              </a:rPr>
              <a:t>from</a:t>
            </a:r>
            <a:r>
              <a:rPr lang="en-US" sz="2000" b="1">
                <a:latin typeface="Gill Sans MT" panose="020B0502020104020203" pitchFamily="34" charset="0"/>
              </a:rPr>
              <a:t> Blackboard’s landing page</a:t>
            </a:r>
            <a:r>
              <a:rPr lang="en-US" sz="2000">
                <a:latin typeface="Gill Sans MT" panose="020B0502020104020203" pitchFamily="34" charset="0"/>
              </a:rPr>
              <a:t>):</a:t>
            </a:r>
          </a:p>
          <a:p>
            <a:pPr lvl="1"/>
            <a:r>
              <a:rPr lang="en-US" b="1">
                <a:latin typeface="Gill Sans MT" panose="020B0502020104020203" pitchFamily="34" charset="0"/>
              </a:rPr>
              <a:t>Instructor’s Full Name</a:t>
            </a:r>
          </a:p>
          <a:p>
            <a:pPr lvl="1"/>
            <a:r>
              <a:rPr lang="en-US" b="1">
                <a:latin typeface="Gill Sans MT" panose="020B0502020104020203" pitchFamily="34" charset="0"/>
              </a:rPr>
              <a:t>Instructor’s Office Location </a:t>
            </a:r>
          </a:p>
          <a:p>
            <a:pPr lvl="1"/>
            <a:r>
              <a:rPr lang="en-US" b="1">
                <a:latin typeface="Gill Sans MT"/>
              </a:rPr>
              <a:t>How to Contact OPS145 Instructor:</a:t>
            </a:r>
          </a:p>
          <a:p>
            <a:pPr lvl="2"/>
            <a:r>
              <a:rPr lang="en-US" b="1">
                <a:latin typeface="Gill Sans MT" panose="020B0502020104020203" pitchFamily="34" charset="0"/>
              </a:rPr>
              <a:t>E-mail Address</a:t>
            </a:r>
          </a:p>
          <a:p>
            <a:pPr lvl="2"/>
            <a:r>
              <a:rPr lang="en-US" b="1">
                <a:latin typeface="Gill Sans MT"/>
              </a:rPr>
              <a:t>Video Classes / Meetings</a:t>
            </a:r>
            <a:br>
              <a:rPr lang="en-US" b="1">
                <a:latin typeface="Gill Sans MT" panose="020B0502020104020203" pitchFamily="34" charset="0"/>
              </a:rPr>
            </a:br>
            <a:r>
              <a:rPr lang="en-US" b="1">
                <a:latin typeface="Gill Sans MT"/>
              </a:rPr>
              <a:t>(eg. MS Teams, Zoom, </a:t>
            </a:r>
            <a:r>
              <a:rPr lang="en-US" b="1" err="1">
                <a:latin typeface="Gill Sans MT"/>
              </a:rPr>
              <a:t>etc</a:t>
            </a:r>
            <a:r>
              <a:rPr lang="en-US" b="1">
                <a:latin typeface="Gill Sans MT"/>
              </a:rPr>
              <a:t>)</a:t>
            </a:r>
            <a:endParaRPr lang="en-US" b="1">
              <a:solidFill>
                <a:srgbClr val="0070C0"/>
              </a:solidFill>
              <a:latin typeface="Gill Sans MT"/>
            </a:endParaRPr>
          </a:p>
        </p:txBody>
      </p:sp>
      <p:pic>
        <p:nvPicPr>
          <p:cNvPr id="6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535486" y="534841"/>
            <a:ext cx="1037347" cy="1030912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Example of Faculty Contact Information in Blackboard Ultr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2631" y="3264655"/>
            <a:ext cx="4269443" cy="17400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3247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1451521" y="1853280"/>
            <a:ext cx="5195692" cy="39336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66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Blackboard: Learning Content</a:t>
            </a:r>
            <a:br>
              <a:rPr/>
            </a:b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In the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Learning </a:t>
            </a:r>
            <a:r>
              <a:rPr lang="en-US" sz="2000" b="1" spc="-1">
                <a:solidFill>
                  <a:srgbClr val="000000"/>
                </a:solidFill>
                <a:latin typeface="Gill Sans MT"/>
              </a:rPr>
              <a:t>Content 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section of your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Blackboard </a:t>
            </a:r>
            <a:r>
              <a:rPr lang="en-US" sz="2000" b="1" spc="-1">
                <a:solidFill>
                  <a:srgbClr val="000000"/>
                </a:solidFill>
                <a:latin typeface="Gill Sans MT"/>
              </a:rPr>
              <a:t>OPS145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course, there are several resources which </a:t>
            </a:r>
            <a:r>
              <a:rPr lang="en-US" sz="2000" b="1" u="sng" strike="noStrike" spc="-1">
                <a:solidFill>
                  <a:srgbClr val="000000"/>
                </a:solidFill>
                <a:latin typeface="Gill Sans MT"/>
              </a:rPr>
              <a:t>might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include: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Course Information </a:t>
            </a:r>
            <a:r>
              <a:rPr lang="en-US" sz="2000" spc="-1">
                <a:solidFill>
                  <a:srgbClr val="000000"/>
                </a:solidFill>
                <a:latin typeface="Gill Sans MT"/>
              </a:rPr>
              <a:t>is your detailed introduction to the course and includes important information on grading, expectations, and faculty contact details.</a:t>
            </a:r>
            <a:endParaRPr lang="en-US" sz="2000" b="1" strike="noStrike" spc="-1">
              <a:solidFill>
                <a:srgbClr val="000000"/>
              </a:solidFill>
              <a:latin typeface="Gill Sans MT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A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link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to the </a:t>
            </a:r>
            <a:r>
              <a:rPr lang="en-US" sz="2000" b="1" spc="-1">
                <a:solidFill>
                  <a:srgbClr val="000000"/>
                </a:solidFill>
                <a:latin typeface="Gill Sans MT"/>
              </a:rPr>
              <a:t>OPS145 lab website 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that contains weekly lesson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slides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and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hands-on tutorials </a:t>
            </a:r>
            <a:r>
              <a:rPr lang="en-US" sz="2000" strike="noStrike" spc="-1">
                <a:solidFill>
                  <a:srgbClr val="000000"/>
                </a:solidFill>
                <a:latin typeface="Gill Sans MT"/>
              </a:rPr>
              <a:t>along with additional learning material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.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Lectures 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are recorded live and saved as a streaming video which becomes available a few hours after the lecture. (</a:t>
            </a:r>
            <a:r>
              <a:rPr lang="en-US" sz="2000" b="0" i="1" strike="noStrike" spc="-1">
                <a:solidFill>
                  <a:srgbClr val="000000"/>
                </a:solidFill>
                <a:latin typeface="Gill Sans MT"/>
              </a:rPr>
              <a:t>Hybrid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and </a:t>
            </a:r>
            <a:r>
              <a:rPr lang="en-US" sz="2000" b="0" i="1" strike="noStrike" spc="-1">
                <a:solidFill>
                  <a:srgbClr val="000000"/>
                </a:solidFill>
                <a:latin typeface="Gill Sans MT"/>
              </a:rPr>
              <a:t>Online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courses)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Quizzes and Tests 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contain the frequent quizzes and tests (Midterm and Final) for this course.</a:t>
            </a: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1" spc="-1">
                <a:solidFill>
                  <a:srgbClr val="000000"/>
                </a:solidFill>
                <a:latin typeface="Gill Sans MT"/>
              </a:rPr>
              <a:t>Weekly Schedule </a:t>
            </a:r>
            <a:r>
              <a:rPr lang="en-US" sz="2000" spc="-1">
                <a:solidFill>
                  <a:srgbClr val="000000"/>
                </a:solidFill>
                <a:latin typeface="Gill Sans MT"/>
              </a:rPr>
              <a:t>displaying weekly content and</a:t>
            </a:r>
            <a:br>
              <a:rPr lang="en-US" sz="2000" spc="-1">
                <a:solidFill>
                  <a:srgbClr val="000000"/>
                </a:solidFill>
                <a:latin typeface="Gill Sans MT"/>
              </a:rPr>
            </a:br>
            <a:r>
              <a:rPr lang="en-US" sz="2000" spc="-1">
                <a:solidFill>
                  <a:srgbClr val="000000"/>
                </a:solidFill>
                <a:latin typeface="Gill Sans MT"/>
              </a:rPr>
              <a:t>due dates for evaluation.</a:t>
            </a:r>
            <a:endParaRPr lang="en-CA" sz="2000" b="0" strike="noStrike" spc="-1">
              <a:latin typeface="Arial"/>
            </a:endParaRPr>
          </a:p>
        </p:txBody>
      </p:sp>
      <p:pic>
        <p:nvPicPr>
          <p:cNvPr id="5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535486" y="534841"/>
            <a:ext cx="1037347" cy="1030912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4457" y="2254427"/>
            <a:ext cx="4593772" cy="35383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09" name="CustomShape 2"/>
          <p:cNvSpPr/>
          <p:nvPr/>
        </p:nvSpPr>
        <p:spPr>
          <a:xfrm>
            <a:off x="1451519" y="1866561"/>
            <a:ext cx="4878572" cy="39209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615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pc="-1">
                <a:solidFill>
                  <a:srgbClr val="000000"/>
                </a:solidFill>
                <a:latin typeface="Gill Sans MT"/>
              </a:rPr>
              <a:t>OPS145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u="sng" strike="noStrike" spc="-1">
                <a:solidFill>
                  <a:srgbClr val="000000"/>
                </a:solidFill>
                <a:latin typeface="Gill Sans MT"/>
              </a:rPr>
              <a:t>Main</a:t>
            </a:r>
            <a:r>
              <a:rPr lang="en-US" sz="2000" b="1" u="sng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US" sz="2000" b="1" u="sng" strike="noStrike" spc="-1">
                <a:solidFill>
                  <a:srgbClr val="000000"/>
                </a:solidFill>
                <a:latin typeface="Gill Sans MT"/>
              </a:rPr>
              <a:t>Page</a:t>
            </a:r>
            <a:endParaRPr lang="en-CA" sz="2000" b="0" u="sng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100" b="0" strike="noStrike" spc="-1">
                <a:solidFill>
                  <a:srgbClr val="000000"/>
                </a:solidFill>
                <a:latin typeface="Gill Sans MT"/>
              </a:rPr>
              <a:t>The </a:t>
            </a:r>
            <a:r>
              <a:rPr lang="en-US" sz="2100" b="1" strike="noStrike" spc="-1">
                <a:solidFill>
                  <a:srgbClr val="000000"/>
                </a:solidFill>
                <a:latin typeface="Gill Sans MT"/>
              </a:rPr>
              <a:t>Quick Links </a:t>
            </a:r>
            <a:r>
              <a:rPr lang="en-US" sz="2100" b="0" strike="noStrike" spc="-1">
                <a:solidFill>
                  <a:srgbClr val="000000"/>
                </a:solidFill>
                <a:latin typeface="Gill Sans MT"/>
              </a:rPr>
              <a:t>section </a:t>
            </a:r>
            <a:r>
              <a:rPr lang="en-US" sz="2100" spc="-1">
                <a:solidFill>
                  <a:srgbClr val="000000"/>
                </a:solidFill>
                <a:latin typeface="Gill Sans MT"/>
              </a:rPr>
              <a:t>in</a:t>
            </a:r>
            <a:r>
              <a:rPr lang="en-US" sz="2100" b="0" strike="noStrike" spc="-1">
                <a:solidFill>
                  <a:srgbClr val="000000"/>
                </a:solidFill>
                <a:latin typeface="Gill Sans MT"/>
              </a:rPr>
              <a:t> the </a:t>
            </a:r>
            <a:r>
              <a:rPr lang="en-US" sz="2100" spc="-1">
                <a:solidFill>
                  <a:srgbClr val="000000"/>
                </a:solidFill>
                <a:latin typeface="Gill Sans MT"/>
              </a:rPr>
              <a:t>top center</a:t>
            </a:r>
            <a:r>
              <a:rPr lang="en-US"/>
              <a:t> </a:t>
            </a:r>
            <a:r>
              <a:rPr lang="en-US" sz="2100" b="0" strike="noStrike" spc="-1">
                <a:solidFill>
                  <a:srgbClr val="000000"/>
                </a:solidFill>
                <a:latin typeface="Gill Sans MT"/>
              </a:rPr>
              <a:t>provide links to the </a:t>
            </a:r>
            <a:r>
              <a:rPr lang="en-US" sz="2100" b="1" strike="noStrike" spc="-1">
                <a:solidFill>
                  <a:srgbClr val="000000"/>
                </a:solidFill>
                <a:latin typeface="Gill Sans MT"/>
              </a:rPr>
              <a:t>weekly schedule</a:t>
            </a:r>
            <a:r>
              <a:rPr lang="en-US" sz="2100" b="0" strike="noStrike" spc="-1">
                <a:solidFill>
                  <a:srgbClr val="000000"/>
                </a:solidFill>
                <a:latin typeface="Gill Sans MT"/>
              </a:rPr>
              <a:t>, </a:t>
            </a:r>
            <a:r>
              <a:rPr lang="en-US" sz="2100" b="1" spc="-1" err="1">
                <a:solidFill>
                  <a:srgbClr val="000000"/>
                </a:solidFill>
                <a:latin typeface="Gill Sans MT"/>
              </a:rPr>
              <a:t>MySeneca</a:t>
            </a:r>
            <a:r>
              <a:rPr lang="en-US" sz="2100" b="1" spc="-1">
                <a:solidFill>
                  <a:srgbClr val="000000"/>
                </a:solidFill>
                <a:latin typeface="Gill Sans MT"/>
              </a:rPr>
              <a:t> (Blackboard),</a:t>
            </a:r>
            <a:r>
              <a:rPr lang="en-US" sz="2100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US" sz="2100" b="1" spc="-1">
                <a:solidFill>
                  <a:srgbClr val="000000"/>
                </a:solidFill>
                <a:latin typeface="Gill Sans MT"/>
              </a:rPr>
              <a:t>course</a:t>
            </a:r>
            <a:r>
              <a:rPr lang="en-US" sz="2100" b="1" strike="noStrike" spc="-1">
                <a:solidFill>
                  <a:srgbClr val="000000"/>
                </a:solidFill>
                <a:latin typeface="Gill Sans MT"/>
              </a:rPr>
              <a:t> outline</a:t>
            </a:r>
            <a:r>
              <a:rPr lang="en-US" sz="2100" b="0" strike="noStrike" spc="-1">
                <a:solidFill>
                  <a:srgbClr val="000000"/>
                </a:solidFill>
                <a:latin typeface="Gill Sans MT"/>
              </a:rPr>
              <a:t>, and </a:t>
            </a:r>
            <a:r>
              <a:rPr lang="en-US" sz="2100" b="1" strike="noStrike" spc="-1">
                <a:solidFill>
                  <a:srgbClr val="000000"/>
                </a:solidFill>
                <a:latin typeface="Gill Sans MT"/>
              </a:rPr>
              <a:t>course policies</a:t>
            </a:r>
            <a:r>
              <a:rPr lang="en-US" sz="2100" strike="noStrike" spc="-1">
                <a:solidFill>
                  <a:srgbClr val="000000"/>
                </a:solidFill>
                <a:latin typeface="Gill Sans MT"/>
              </a:rPr>
              <a:t>.</a:t>
            </a:r>
            <a:endParaRPr lang="en-CA"/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100" spc="-1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u="sng" strike="noStrike" spc="-1">
                <a:solidFill>
                  <a:srgbClr val="000000"/>
                </a:solidFill>
                <a:latin typeface="Gill Sans MT"/>
              </a:rPr>
              <a:t>Weekly Schedule Page</a:t>
            </a:r>
            <a:endParaRPr lang="en-CA" sz="2000" b="0" u="sng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The Weekly Schedule contains weekly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lecture notes</a:t>
            </a:r>
            <a:r>
              <a:rPr lang="en-US" sz="2000" spc="-1">
                <a:latin typeface="Gill Sans MT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in both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PDF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and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PowerPoint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format in the </a:t>
            </a:r>
            <a:r>
              <a:rPr lang="en-US" sz="2000" b="0" i="1" strike="noStrike" spc="-1">
                <a:solidFill>
                  <a:srgbClr val="000000"/>
                </a:solidFill>
                <a:latin typeface="Gill Sans MT"/>
              </a:rPr>
              <a:t>References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column.</a:t>
            </a:r>
            <a:endParaRPr lang="en-US"/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It also contains a weekly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hands-on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tutorial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that provides guided practice to become familiar with working in the Linux environment. These tutorials require successfully completion within a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deadline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 to obtain </a:t>
            </a:r>
            <a:r>
              <a:rPr lang="en-US" sz="2000" b="1" strike="noStrike" spc="-1">
                <a:solidFill>
                  <a:srgbClr val="000000"/>
                </a:solidFill>
                <a:latin typeface="Gill Sans MT"/>
              </a:rPr>
              <a:t>marks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1" spc="-1">
                <a:latin typeface="Gill Sans MT"/>
              </a:rPr>
              <a:t>NOTE:  </a:t>
            </a:r>
            <a:r>
              <a:rPr lang="en-US" sz="2000" spc="-1">
                <a:latin typeface="Gill Sans MT"/>
              </a:rPr>
              <a:t>Completing the </a:t>
            </a:r>
            <a:r>
              <a:rPr lang="en-US" sz="2000" b="1" spc="-1">
                <a:latin typeface="Gill Sans MT"/>
              </a:rPr>
              <a:t>weekly</a:t>
            </a:r>
            <a:r>
              <a:rPr lang="en-US" sz="2000" spc="-1">
                <a:latin typeface="Gill Sans MT"/>
              </a:rPr>
              <a:t> and </a:t>
            </a:r>
            <a:r>
              <a:rPr lang="en-US" sz="2000" b="1" spc="-1">
                <a:latin typeface="Gill Sans MT"/>
              </a:rPr>
              <a:t>review tutorials on time</a:t>
            </a:r>
            <a:r>
              <a:rPr lang="en-US" sz="2000" spc="-1">
                <a:latin typeface="Gill Sans MT"/>
              </a:rPr>
              <a:t> is the key to success in OPS145.</a:t>
            </a:r>
          </a:p>
        </p:txBody>
      </p:sp>
      <p:pic>
        <p:nvPicPr>
          <p:cNvPr id="6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535486" y="534841"/>
            <a:ext cx="1037347" cy="1030912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8567E59-674E-F86D-6E66-5D8467597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60" y="2355748"/>
            <a:ext cx="5096389" cy="1081341"/>
          </a:xfrm>
          <a:prstGeom prst="rect">
            <a:avLst/>
          </a:prstGeom>
        </p:spPr>
      </p:pic>
      <p:pic>
        <p:nvPicPr>
          <p:cNvPr id="5" name="Picture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3330E34E-4954-AED6-A7A8-3347EEB6D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659" y="3824031"/>
            <a:ext cx="3559585" cy="1233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1451520" y="1884319"/>
            <a:ext cx="9531112" cy="36464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05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Course Outline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0" strike="noStrike" spc="-1">
                <a:solidFill>
                  <a:srgbClr val="000000"/>
                </a:solidFill>
                <a:latin typeface="Gill Sans MT"/>
              </a:rPr>
              <a:t>Link:</a:t>
            </a:r>
            <a:r>
              <a:rPr lang="en-CA" sz="2400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CA" sz="24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200" b="0" u="sng" strike="noStrike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https://apps.senecacollege.ca/ssos/findOutline.do?schoolCode=SICT&amp;subjectCode=</a:t>
            </a:r>
            <a:r>
              <a:rPr lang="en-CA" sz="2200" u="sng" spc="-1">
                <a:solidFill>
                  <a:srgbClr val="FA2B5C"/>
                </a:solidFill>
                <a:latin typeface="Gill Sans MT"/>
                <a:hlinkClick r:id="rId2"/>
              </a:rPr>
              <a:t>OPS145</a:t>
            </a:r>
            <a:endParaRPr lang="en-CA" sz="22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Gill Sans MT"/>
              </a:rPr>
              <a:t>Topics</a:t>
            </a:r>
            <a:endParaRPr lang="en-CA" sz="24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Course Description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Modes of Instruction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Evaluation / Promotion Policy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</a:rPr>
              <a:t>Learning Outcomes / Topic Outline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000" b="0" strike="noStrike" spc="-1">
              <a:latin typeface="Arial"/>
            </a:endParaRPr>
          </a:p>
        </p:txBody>
      </p:sp>
      <p:pic>
        <p:nvPicPr>
          <p:cNvPr id="114" name="Picture 10" descr="Icon&#10;&#10;Description automatically generated"/>
          <p:cNvPicPr/>
          <p:nvPr/>
        </p:nvPicPr>
        <p:blipFill>
          <a:blip r:embed="rId3"/>
          <a:stretch/>
        </p:blipFill>
        <p:spPr>
          <a:xfrm>
            <a:off x="10769600" y="454760"/>
            <a:ext cx="839640" cy="1018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strike="noStrike" cap="all" spc="-1">
                <a:solidFill>
                  <a:srgbClr val="000000"/>
                </a:solidFill>
                <a:latin typeface="Gill Sans MT"/>
              </a:rPr>
              <a:t>Course Introduction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1451520" y="1875437"/>
            <a:ext cx="9494647" cy="40282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35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Course Policies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0" strike="noStrike" spc="-1">
                <a:solidFill>
                  <a:srgbClr val="000000"/>
                </a:solidFill>
                <a:latin typeface="Gill Sans MT"/>
              </a:rPr>
              <a:t>Link: </a:t>
            </a:r>
            <a:r>
              <a:rPr lang="en-CA" sz="2000" b="0" u="sng" strike="noStrike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https://</a:t>
            </a:r>
            <a:r>
              <a:rPr lang="en-CA" sz="2000" u="sng" spc="-1">
                <a:solidFill>
                  <a:srgbClr val="FA2B5C"/>
                </a:solidFill>
                <a:latin typeface="Gill Sans MT"/>
                <a:hlinkClick r:id="rId2"/>
              </a:rPr>
              <a:t>jmcarman</a:t>
            </a:r>
            <a:r>
              <a:rPr lang="en-CA" sz="2000" b="0" u="sng" strike="noStrike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.</a:t>
            </a:r>
            <a:r>
              <a:rPr lang="en-CA" sz="2000" u="sng" spc="-1">
                <a:solidFill>
                  <a:srgbClr val="FA2B5C"/>
                </a:solidFill>
                <a:latin typeface="Gill Sans MT"/>
                <a:hlinkClick r:id="rId2"/>
              </a:rPr>
              <a:t>github</a:t>
            </a:r>
            <a:r>
              <a:rPr lang="en-CA" sz="2000" b="0" u="sng" strike="noStrike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.</a:t>
            </a:r>
            <a:r>
              <a:rPr lang="en-CA" sz="2000" u="sng" spc="-1">
                <a:solidFill>
                  <a:srgbClr val="FA2B5C"/>
                </a:solidFill>
                <a:latin typeface="Gill Sans MT"/>
                <a:hlinkClick r:id="rId2"/>
              </a:rPr>
              <a:t>io/OPS145</a:t>
            </a:r>
            <a:r>
              <a:rPr lang="en-CA" sz="2000" b="0" u="sng" strike="noStrike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/</a:t>
            </a:r>
            <a:r>
              <a:rPr lang="en-CA" sz="2000" u="sng" spc="-1">
                <a:solidFill>
                  <a:srgbClr val="FA2B5C"/>
                </a:solidFill>
                <a:latin typeface="Gill Sans MT"/>
                <a:hlinkClick r:id="rId2"/>
              </a:rPr>
              <a:t>B-ExtraResources</a:t>
            </a:r>
            <a:r>
              <a:rPr lang="en-CA" sz="2000" b="0" u="sng" strike="noStrike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/</a:t>
            </a:r>
            <a:r>
              <a:rPr lang="en-CA" sz="2000" u="sng" spc="-1">
                <a:solidFill>
                  <a:srgbClr val="FA2B5C"/>
                </a:solidFill>
                <a:latin typeface="Gill Sans MT"/>
                <a:hlinkClick r:id="rId2"/>
              </a:rPr>
              <a:t>course-policies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Topics</a:t>
            </a:r>
            <a:endParaRPr lang="en-CA" sz="24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Online Tutorials (weekly and review)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Quizzes, Midterm Test, and Final Test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Cheating &amp; Plagiarism</a:t>
            </a:r>
            <a:endParaRPr lang="en-CA" sz="2000" b="0" strike="noStrike" spc="-1">
              <a:latin typeface="Arial"/>
            </a:endParaRPr>
          </a:p>
          <a:p>
            <a:pPr marL="685800" lvl="1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What constitutes cheating?</a:t>
            </a:r>
            <a:endParaRPr lang="en-CA" sz="2000" b="0" strike="noStrike" spc="-1">
              <a:latin typeface="Arial"/>
            </a:endParaRPr>
          </a:p>
          <a:p>
            <a:pPr marL="228600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General Information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000" b="0" strike="noStrike" spc="-1">
              <a:latin typeface="Arial"/>
            </a:endParaRPr>
          </a:p>
        </p:txBody>
      </p:sp>
      <p:pic>
        <p:nvPicPr>
          <p:cNvPr id="117" name="Graphic 7"/>
          <p:cNvPicPr/>
          <p:nvPr/>
        </p:nvPicPr>
        <p:blipFill>
          <a:blip r:embed="rId3"/>
          <a:stretch/>
        </p:blipFill>
        <p:spPr>
          <a:xfrm>
            <a:off x="10601680" y="542460"/>
            <a:ext cx="904960" cy="786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UNIX and LINUX Background and features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1451520" y="1706760"/>
            <a:ext cx="7059240" cy="475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br/>
            <a:endParaRPr lang="en-CA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1800" b="0" strike="noStrike" spc="-1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1451520" y="1875441"/>
            <a:ext cx="7639214" cy="411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2240" rIns="90000" bIns="46800">
            <a:normAutofit/>
          </a:bodyPr>
          <a:lstStyle/>
          <a:p>
            <a:pPr>
              <a:lnSpc>
                <a:spcPct val="78000"/>
              </a:lnSpc>
              <a:spcBef>
                <a:spcPts val="1375"/>
              </a:spcBef>
              <a:tabLst>
                <a:tab pos="0" algn="l"/>
              </a:tabLst>
            </a:pPr>
            <a:r>
              <a:rPr lang="en-GB" sz="24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Purpose of an Operating System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78000"/>
              </a:lnSpc>
              <a:spcBef>
                <a:spcPts val="1375"/>
              </a:spcBef>
              <a:tabLst>
                <a:tab pos="0" algn="l"/>
              </a:tabLst>
            </a:pPr>
            <a:r>
              <a:rPr lang="en-GB" sz="1800" strike="noStrike" spc="-1">
                <a:solidFill>
                  <a:srgbClr val="000000"/>
                </a:solidFill>
                <a:latin typeface="Gill Sans MT"/>
                <a:ea typeface="DejaVu Sans"/>
              </a:rPr>
              <a:t>An operating system basically performs 2 major tasks:</a:t>
            </a:r>
            <a:endParaRPr lang="en-CA" sz="1800" strike="noStrike" spc="-1">
              <a:latin typeface="Arial"/>
            </a:endParaRPr>
          </a:p>
          <a:p>
            <a:pPr marL="686160" lvl="1" indent="-342360">
              <a:lnSpc>
                <a:spcPct val="78000"/>
              </a:lnSpc>
              <a:spcBef>
                <a:spcPts val="1375"/>
              </a:spcBef>
              <a:buClr>
                <a:srgbClr val="B71E42"/>
              </a:buClr>
              <a:buFont typeface="Gill Sans MT"/>
              <a:buAutoNum type="arabicPeriod"/>
              <a:tabLst>
                <a:tab pos="341280" algn="l"/>
                <a:tab pos="44748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39920" algn="l"/>
                <a:tab pos="5389200" algn="l"/>
                <a:tab pos="5838480" algn="l"/>
                <a:tab pos="6287760" algn="l"/>
                <a:tab pos="6737040" algn="l"/>
                <a:tab pos="7186320" algn="l"/>
                <a:tab pos="7635600" algn="l"/>
                <a:tab pos="8084880" algn="l"/>
                <a:tab pos="8534160" algn="l"/>
                <a:tab pos="8983440" algn="l"/>
              </a:tabLst>
            </a:pP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Manages Resources 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to provide a </a:t>
            </a: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platform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 for application to run</a:t>
            </a:r>
            <a:endParaRPr lang="en-CA" sz="1800" b="0" strike="noStrike" spc="-1">
              <a:latin typeface="Arial"/>
            </a:endParaRPr>
          </a:p>
          <a:p>
            <a:pPr marL="686160" lvl="1" indent="-342360">
              <a:lnSpc>
                <a:spcPct val="78000"/>
              </a:lnSpc>
              <a:spcBef>
                <a:spcPts val="1375"/>
              </a:spcBef>
              <a:buClr>
                <a:srgbClr val="B71E42"/>
              </a:buClr>
              <a:buFont typeface="Gill Sans MT"/>
              <a:buAutoNum type="arabicPeriod"/>
              <a:tabLst>
                <a:tab pos="341280" algn="l"/>
                <a:tab pos="44748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39920" algn="l"/>
                <a:tab pos="5389200" algn="l"/>
                <a:tab pos="5838480" algn="l"/>
                <a:tab pos="6287760" algn="l"/>
                <a:tab pos="6737040" algn="l"/>
                <a:tab pos="7186320" algn="l"/>
                <a:tab pos="7635600" algn="l"/>
                <a:tab pos="8084880" algn="l"/>
                <a:tab pos="8534160" algn="l"/>
                <a:tab pos="8983440" algn="l"/>
              </a:tabLst>
            </a:pPr>
            <a:r>
              <a:rPr lang="en-GB" sz="1800" strike="noStrike" spc="-1">
                <a:solidFill>
                  <a:srgbClr val="000000"/>
                </a:solidFill>
                <a:latin typeface="Gill Sans MT"/>
                <a:ea typeface="DejaVu Sans"/>
              </a:rPr>
              <a:t>Provides an </a:t>
            </a: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Interface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 to allow the OS to communicate with the end-user (</a:t>
            </a: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Humans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)</a:t>
            </a:r>
            <a:endParaRPr lang="en-CA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375"/>
              </a:spcBef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Over time, operating systems used a </a:t>
            </a: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command line interface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, then evolved into a </a:t>
            </a: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menu-driven interface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, then finally a </a:t>
            </a: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graphical user interface 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(GUI).</a:t>
            </a:r>
            <a:endParaRPr lang="en-CA" sz="1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375"/>
              </a:spcBef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Depending on the OS installation setup, modern operating systems can provide </a:t>
            </a:r>
            <a:r>
              <a:rPr lang="en-GB" sz="1800" b="1" strike="noStrike" spc="-1">
                <a:solidFill>
                  <a:srgbClr val="000000"/>
                </a:solidFill>
                <a:latin typeface="Gill Sans MT"/>
                <a:ea typeface="DejaVu Sans"/>
              </a:rPr>
              <a:t>ALL</a:t>
            </a:r>
            <a:r>
              <a:rPr lang="en-GB" sz="1800" b="0" strike="noStrike" spc="-1">
                <a:solidFill>
                  <a:srgbClr val="000000"/>
                </a:solidFill>
                <a:latin typeface="Gill Sans MT"/>
                <a:ea typeface="DejaVu Sans"/>
              </a:rPr>
              <a:t> of the above-named types of interfaces to help accommodate all users’ preferences.</a:t>
            </a:r>
            <a:endParaRPr lang="en-CA" sz="1800" b="0" strike="noStrike" spc="-1">
              <a:latin typeface="Arial"/>
            </a:endParaRPr>
          </a:p>
        </p:txBody>
      </p:sp>
      <p:pic>
        <p:nvPicPr>
          <p:cNvPr id="121" name="Picture 5" descr="A picture containing clipart&#10;&#10;Description automatically generated"/>
          <p:cNvPicPr/>
          <p:nvPr/>
        </p:nvPicPr>
        <p:blipFill>
          <a:blip r:embed="rId2"/>
          <a:stretch/>
        </p:blipFill>
        <p:spPr>
          <a:xfrm>
            <a:off x="9605546" y="2279001"/>
            <a:ext cx="2198880" cy="1653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UNIX and LINUX Background and features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1451520" y="1875439"/>
            <a:ext cx="8091975" cy="392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65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800" b="1" strike="noStrike" spc="-1">
                <a:solidFill>
                  <a:srgbClr val="000000"/>
                </a:solidFill>
                <a:latin typeface="Gill Sans MT"/>
              </a:rPr>
              <a:t>History of Unix</a:t>
            </a:r>
            <a:endParaRPr lang="en-CA" sz="28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Although Unix was not the first operating system, it made a huge impact in the 70’s and is still a popular OS today.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Interesting Facts:</a:t>
            </a:r>
            <a:endParaRPr lang="en-CA" sz="2000" b="0" strike="noStrike" spc="-1">
              <a:latin typeface="Arial"/>
            </a:endParaRPr>
          </a:p>
          <a:p>
            <a:pPr marL="228600" indent="-2278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The UNIX OS was developed in the early 70’s by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Ken Thompson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as a platform to play a crude network strategy-based game called “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space travel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”.</a:t>
            </a:r>
            <a:endParaRPr lang="en-CA" sz="2000" b="0" strike="noStrike" spc="-1">
              <a:latin typeface="Arial"/>
            </a:endParaRPr>
          </a:p>
          <a:p>
            <a:pPr marL="228600" indent="-2278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UNIX was developed at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AT&amp;T Bell labs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, but it took the company a few years to realize that this OS would be popular and marketed proprietary version that became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Unix System V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(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release 4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).</a:t>
            </a:r>
            <a:endParaRPr lang="en-CA" sz="2000" b="0" strike="noStrike" spc="-1">
              <a:latin typeface="Arial"/>
            </a:endParaRPr>
          </a:p>
          <a:p>
            <a:pPr marL="228600" indent="-22788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While Ken Thompson took a break from work and taught at University of Berkeley California, he provided students source code to OS and Shell (interface) which branched into 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free version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of the OS that became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BSD (Berkeley Software Distribution) Unix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. </a:t>
            </a:r>
            <a:endParaRPr lang="en-CA" sz="2000" b="0" strike="noStrike" spc="-1">
              <a:latin typeface="Arial"/>
            </a:endParaRPr>
          </a:p>
        </p:txBody>
      </p:sp>
      <p:pic>
        <p:nvPicPr>
          <p:cNvPr id="124" name="Picture 4" descr="A person wearing glasses&#10;&#10;Description automatically generated"/>
          <p:cNvPicPr/>
          <p:nvPr/>
        </p:nvPicPr>
        <p:blipFill>
          <a:blip r:embed="rId2"/>
          <a:stretch/>
        </p:blipFill>
        <p:spPr>
          <a:xfrm>
            <a:off x="10012380" y="2526187"/>
            <a:ext cx="1456200" cy="202068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UNIX and LINUX Background and features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1451520" y="1872565"/>
            <a:ext cx="9288000" cy="39511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600" b="1" strike="noStrike" spc="-1">
                <a:solidFill>
                  <a:srgbClr val="000000"/>
                </a:solidFill>
                <a:latin typeface="Gill Sans MT"/>
              </a:rPr>
              <a:t>History of Unix / Continued…</a:t>
            </a:r>
            <a:endParaRPr lang="en-CA" sz="2600" b="0" strike="noStrike" spc="-1">
              <a:latin typeface="Arial"/>
            </a:endParaRPr>
          </a:p>
          <a:p>
            <a:pPr marL="72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Unix was developed to incorporate the following features:</a:t>
            </a:r>
            <a:endParaRPr lang="en-CA" sz="20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Allows for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multiple users 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– this is performed by assigning each user a “small slice of time” to give illusion that computer is paying total attention to that user.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Allows for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multi-tasking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 – allows for more than one task to be executed at the same time </a:t>
            </a:r>
            <a:br>
              <a:rPr/>
            </a:b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(e.g. via a “time-slice”).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Supports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multi-processing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 (allows tasks to be performed on multiple processors).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Simplifies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sharing of data and programs among users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.</a:t>
            </a:r>
            <a:endParaRPr lang="en-CA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b="0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Unix also evolved at the time that </a:t>
            </a:r>
            <a:r>
              <a:rPr lang="en-CA" b="1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ARPANET</a:t>
            </a:r>
            <a:r>
              <a:rPr lang="en-CA" b="0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 (an ancestor to the </a:t>
            </a:r>
            <a:r>
              <a:rPr lang="en-CA" b="1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Internet</a:t>
            </a:r>
            <a:r>
              <a:rPr lang="en-CA" b="0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) was evolving </a:t>
            </a:r>
            <a:br>
              <a:rPr>
                <a:latin typeface="Gill Sans MT" panose="020B0502020104020203" pitchFamily="34" charset="0"/>
              </a:rPr>
            </a:br>
            <a:r>
              <a:rPr lang="en-CA" b="0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which made it easier to setup computer networks and use networking and eventually </a:t>
            </a:r>
            <a:br>
              <a:rPr>
                <a:latin typeface="Gill Sans MT" panose="020B0502020104020203" pitchFamily="34" charset="0"/>
              </a:rPr>
            </a:br>
            <a:r>
              <a:rPr lang="en-CA" b="1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Internet related</a:t>
            </a:r>
            <a:r>
              <a:rPr lang="en-CA" b="0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CA" b="1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utilities</a:t>
            </a:r>
            <a:r>
              <a:rPr lang="en-CA" b="0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.</a:t>
            </a:r>
            <a:endParaRPr lang="en-CA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UNIX and LINUX Background and features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1451520" y="1875668"/>
            <a:ext cx="9288000" cy="38734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55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History of Unix / Continued…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spc="-1">
                <a:solidFill>
                  <a:srgbClr val="000000"/>
                </a:solidFill>
                <a:latin typeface="Gill Sans MT" panose="020B0502020104020203" pitchFamily="34" charset="0"/>
              </a:rPr>
              <a:t>There are other factors that lead to the popularity of using Unix including:</a:t>
            </a:r>
            <a:endParaRPr lang="en-CA" sz="2000" b="0" strike="noStrike" spc="-1">
              <a:latin typeface="Gill Sans MT" panose="020B0502020104020203" pitchFamily="34" charset="0"/>
            </a:endParaRPr>
          </a:p>
          <a:p>
            <a:pPr marL="228600" indent="-227880"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Unix was re-written using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 programming language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to make the OS more portable to install and operated on other types of computers.</a:t>
            </a:r>
            <a:endParaRPr lang="en-CA" sz="2000" b="0" strike="noStrike" spc="-1">
              <a:latin typeface="Arial"/>
            </a:endParaRPr>
          </a:p>
          <a:p>
            <a:pPr marL="228600" indent="-227880"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Unix was considered an inexpensive method of creating a 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local computer network.</a:t>
            </a:r>
          </a:p>
          <a:p>
            <a:pPr marL="228600" indent="-227880"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Hardware manufacturers modified UNIX to run on their systems and added enhancements.</a:t>
            </a:r>
            <a:endParaRPr lang="en-CA" sz="2000" b="0" strike="noStrike" spc="-1">
              <a:latin typeface="Arial"/>
            </a:endParaRPr>
          </a:p>
          <a:p>
            <a:pPr marL="228600" indent="-227880"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Versions of Unix (both propriety and free) became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standardized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to be accepted and used by industry and government organizations (e.g.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POSIX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standard).</a:t>
            </a:r>
          </a:p>
          <a:p>
            <a:pPr marL="720">
              <a:spcBef>
                <a:spcPts val="1001"/>
              </a:spcBef>
              <a:buClr>
                <a:srgbClr val="B71E42"/>
              </a:buClr>
              <a:tabLst>
                <a:tab pos="0" algn="l"/>
              </a:tabLst>
            </a:pPr>
            <a:r>
              <a:rPr lang="en-CA" sz="2000" spc="-1">
                <a:solidFill>
                  <a:srgbClr val="000000"/>
                </a:solidFill>
                <a:latin typeface="Gill Sans MT"/>
              </a:rPr>
              <a:t>Although the UNIX OS had many popular features, you still required an </a:t>
            </a:r>
            <a:r>
              <a:rPr lang="en-CA" sz="2000" b="1" spc="-1">
                <a:solidFill>
                  <a:srgbClr val="000000"/>
                </a:solidFill>
                <a:latin typeface="Gill Sans MT"/>
              </a:rPr>
              <a:t>expensive computer 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to run UNIX; therefore, UNIX was NOT available to run on the majority of PCs</a:t>
            </a:r>
            <a:endParaRPr lang="en-US" sz="2000" b="0" strike="noStrike" spc="-1">
              <a:solidFill>
                <a:srgbClr val="000000"/>
              </a:solidFill>
              <a:latin typeface="Gill Sans MT"/>
            </a:endParaRPr>
          </a:p>
          <a:p>
            <a:pPr marL="228600" indent="-227880"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endParaRPr lang="en-US" sz="2000" spc="-1">
              <a:solidFill>
                <a:srgbClr val="000000"/>
              </a:solidFill>
              <a:latin typeface="Gill Sans MT"/>
            </a:endParaRPr>
          </a:p>
          <a:p>
            <a:pPr marL="228600" indent="-227880"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endParaRPr lang="en-CA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UNIX and LINUX Background and features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1451519" y="1875442"/>
            <a:ext cx="7062165" cy="4019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55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Push to Create a Unix-like OS for All Computers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100" b="1" strike="noStrike" spc="-1">
                <a:solidFill>
                  <a:srgbClr val="000000"/>
                </a:solidFill>
                <a:latin typeface="Gill Sans MT"/>
              </a:rPr>
              <a:t>Richard Stallman </a:t>
            </a: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published the </a:t>
            </a:r>
            <a:r>
              <a:rPr lang="en-CA" sz="2100" b="1" strike="noStrike" spc="-1">
                <a:solidFill>
                  <a:srgbClr val="000000"/>
                </a:solidFill>
                <a:latin typeface="Gill Sans MT"/>
              </a:rPr>
              <a:t>GNU Manifesto </a:t>
            </a: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in 1984, which described the need for Free Software  ("</a:t>
            </a:r>
            <a:r>
              <a:rPr lang="en-CA" sz="2100" b="0" i="1" strike="noStrike" spc="-1">
                <a:solidFill>
                  <a:srgbClr val="000000"/>
                </a:solidFill>
                <a:latin typeface="Gill Sans MT"/>
              </a:rPr>
              <a:t>Free in the sense of free speech, not free beer</a:t>
            </a: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").  The resultant </a:t>
            </a:r>
            <a:r>
              <a:rPr lang="en-CA" sz="2100" b="1" strike="noStrike" spc="-1">
                <a:solidFill>
                  <a:srgbClr val="000000"/>
                </a:solidFill>
                <a:latin typeface="Gill Sans MT"/>
              </a:rPr>
              <a:t>GNU project </a:t>
            </a: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developed free, open-source replacements for most of the Unix programs,  but not for the Unix kernel (the core program that interacted with and controlled the hardware).</a:t>
            </a:r>
            <a:endParaRPr lang="en-CA" sz="21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These programs were released under the </a:t>
            </a:r>
            <a:r>
              <a:rPr lang="en-CA" sz="2100" b="1" strike="noStrike" spc="-1">
                <a:solidFill>
                  <a:srgbClr val="000000"/>
                </a:solidFill>
                <a:latin typeface="Gill Sans MT"/>
              </a:rPr>
              <a:t>GNU General  Public License (GPL), </a:t>
            </a: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which permits anyone to copy,  use, and modify the software, as long as these rights are preserved for anyone receiving a subsequent copy of the software.</a:t>
            </a:r>
            <a:endParaRPr lang="en-CA" sz="21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Under the GNU project, there were many free utilities that were available for a Unix-Like OS, but the Unix-like OS for PCs that Richard was developing was not stable and another Unix-like OS for the PCs became available called </a:t>
            </a:r>
            <a:r>
              <a:rPr lang="en-CA" sz="2100" b="1" strike="noStrike" spc="-1">
                <a:solidFill>
                  <a:srgbClr val="000000"/>
                </a:solidFill>
                <a:latin typeface="Gill Sans MT"/>
              </a:rPr>
              <a:t>Linux</a:t>
            </a:r>
            <a:r>
              <a:rPr lang="en-CA" sz="2100" b="0" strike="noStrike" spc="-1">
                <a:solidFill>
                  <a:srgbClr val="000000"/>
                </a:solidFill>
                <a:latin typeface="Gill Sans MT"/>
              </a:rPr>
              <a:t>.</a:t>
            </a:r>
            <a:endParaRPr lang="en-CA" sz="2100" b="0" strike="noStrike" spc="-1"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8698128" y="2918551"/>
            <a:ext cx="2162160" cy="169488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solidFill>
              <a:srgbClr val="0070C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UNIX and LINUX Background and features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1451520" y="1871036"/>
            <a:ext cx="7511760" cy="39704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pc="-1">
                <a:solidFill>
                  <a:srgbClr val="000000"/>
                </a:solidFill>
                <a:latin typeface="Gill Sans MT"/>
              </a:rPr>
              <a:t>Push to Create a Unix-like OS for All Computers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In 1991,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Linus Torvalds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, a Finnish computer programming student, released the 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Linux kernel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, eventually placing it under the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GPL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. </a:t>
            </a:r>
            <a:endParaRPr lang="en-CA" sz="19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The Linux kernel, GNU  software, and some other components were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combined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 into a powerful,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Unix-like 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operating system. 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This OS can’t technically be called Unix, because it has never been certified to be Unix, but virtually everyone in the industry regards it as such.</a:t>
            </a:r>
            <a:endParaRPr lang="en-CA" sz="19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The combined GNU and Linux system is called “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GNU/Linux”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 by some but just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“Linux”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 by others (much to the dismay of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Richard Stallman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) who feels that the simple name Linux downplays the tremendous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contribution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 made by the </a:t>
            </a:r>
            <a:r>
              <a:rPr lang="en-CA" sz="1900" b="1" strike="noStrike" spc="-1">
                <a:solidFill>
                  <a:srgbClr val="000000"/>
                </a:solidFill>
                <a:latin typeface="Gill Sans MT"/>
              </a:rPr>
              <a:t>GNU Project</a:t>
            </a:r>
            <a:r>
              <a:rPr lang="en-CA" sz="1900" b="0" strike="noStrike" spc="-1">
                <a:solidFill>
                  <a:srgbClr val="000000"/>
                </a:solidFill>
                <a:latin typeface="Gill Sans MT"/>
              </a:rPr>
              <a:t>.</a:t>
            </a:r>
            <a:endParaRPr lang="en-CA" sz="1900" b="0" strike="noStrike" spc="-1"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089758" y="2262241"/>
            <a:ext cx="1828080" cy="274248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solidFill>
              <a:srgbClr val="0070C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1451520" y="1853280"/>
            <a:ext cx="9288000" cy="4050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4000"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While attending Seneca College, you will be using many different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computer systems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to perform various operations. Below is a listing of a few of these servers:</a:t>
            </a:r>
            <a:endParaRPr lang="en-CA"/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Students will mainly use 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web-browser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to interact with those listed servers.</a:t>
            </a:r>
            <a:endParaRPr lang="en-CA" sz="2000" b="0" strike="noStrike" spc="-1"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An exception is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Matrix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server which requires that students run an application to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connect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to their server account to practice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 Linux commands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and submit their weekly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tutorials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.</a:t>
            </a:r>
            <a:endParaRPr lang="en-CA" sz="2000" b="0" strike="noStrike" spc="-1">
              <a:latin typeface="Arial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E8AE18AD-2158-46D5-A764-F17BE0B167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707120"/>
              </p:ext>
            </p:extLst>
          </p:nvPr>
        </p:nvGraphicFramePr>
        <p:xfrm>
          <a:off x="1643120" y="2692301"/>
          <a:ext cx="9219437" cy="1249680"/>
        </p:xfrm>
        <a:graphic>
          <a:graphicData uri="http://schemas.openxmlformats.org/drawingml/2006/table">
            <a:tbl>
              <a:tblPr/>
              <a:tblGrid>
                <a:gridCol w="3752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9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800" b="1" strike="noStrike" spc="-1">
                          <a:solidFill>
                            <a:srgbClr val="0070C0"/>
                          </a:solidFill>
                          <a:latin typeface="Gill Sans MT"/>
                        </a:rPr>
                        <a:t>learn.senecapolytechnic.ca</a:t>
                      </a:r>
                      <a:endParaRPr lang="en-CA" sz="1800" b="0" strike="noStrike" spc="-1">
                        <a:latin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Learning Content Management System </a:t>
                      </a:r>
                      <a:br>
                        <a:rPr/>
                      </a:b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(Student Grades / Notes / Online Quizzes)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1425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800" b="1" strike="noStrike" spc="-1">
                          <a:solidFill>
                            <a:srgbClr val="0070C0"/>
                          </a:solidFill>
                          <a:latin typeface="Gill Sans MT"/>
                        </a:rPr>
                        <a:t>matrix.senecacollege.ca/~ops145</a:t>
                      </a:r>
                      <a:endParaRPr lang="en-CA" sz="1800" b="0" strike="noStrike" spc="-1">
                        <a:latin typeface="Arial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Course materials for Seneca Polytechnic Students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1425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800" b="1" strike="noStrike" spc="-1">
                          <a:solidFill>
                            <a:srgbClr val="0070C0"/>
                          </a:solidFill>
                          <a:latin typeface="Gill Sans MT"/>
                        </a:rPr>
                        <a:t>matrix.senecacollege.ca</a:t>
                      </a:r>
                      <a:endParaRPr lang="en-CA" sz="1800" b="0" strike="noStrike" spc="-1">
                        <a:latin typeface="Arial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1400" b="1" strike="noStrike" spc="-1">
                          <a:solidFill>
                            <a:srgbClr val="000000"/>
                          </a:solidFill>
                          <a:latin typeface="Gill Sans MT"/>
                        </a:rPr>
                        <a:t>Linux Account for Student Practice and tutorial submission</a:t>
                      </a:r>
                      <a:endParaRPr lang="en-CA" sz="1400" b="0" strike="noStrike" spc="-1">
                        <a:latin typeface="Arial"/>
                      </a:endParaRPr>
                    </a:p>
                  </a:txBody>
                  <a:tcPr marL="1425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1451520" y="1862158"/>
            <a:ext cx="5968440" cy="39615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Matrix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server consists of 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several </a:t>
            </a:r>
            <a:r>
              <a:rPr lang="en-CA" sz="2000" b="1" i="1" strike="noStrike" spc="-1">
                <a:solidFill>
                  <a:srgbClr val="000000"/>
                </a:solidFill>
                <a:latin typeface="Gill Sans MT"/>
              </a:rPr>
              <a:t>virtual machines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connected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 to form a 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cluster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.  A cluster is a cost effective </a:t>
            </a:r>
            <a:r>
              <a:rPr lang="en-CA" sz="2000" b="0" u="sng" strike="noStrike" spc="-1">
                <a:solidFill>
                  <a:srgbClr val="000000"/>
                </a:solidFill>
                <a:uFillTx/>
                <a:latin typeface="Gill Sans MT"/>
              </a:rPr>
              <a:t>alternative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to buying larger servers.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All registered students in this course have access to an account on the Matrix server.  You will be using this account for the following reasons:</a:t>
            </a:r>
            <a:endParaRPr lang="en-CA" sz="20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Issuing 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Linux commands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Practicing Linux commands at the 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Linux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 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shell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 </a:t>
            </a:r>
            <a:br>
              <a:rPr/>
            </a:b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to be more productive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Performing 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Weekly Tutorials (</a:t>
            </a:r>
            <a:r>
              <a:rPr lang="en-CA" b="1" spc="-1">
                <a:solidFill>
                  <a:srgbClr val="000000"/>
                </a:solidFill>
                <a:latin typeface="+mj-lt"/>
              </a:rPr>
              <a:t>11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)</a:t>
            </a: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pc="-1">
                <a:solidFill>
                  <a:srgbClr val="000000"/>
                </a:solidFill>
                <a:latin typeface="Gill Sans MT"/>
              </a:rPr>
              <a:t>Practice Issuing </a:t>
            </a:r>
            <a:r>
              <a:rPr lang="en-CA" b="1" spc="-1">
                <a:solidFill>
                  <a:srgbClr val="000000"/>
                </a:solidFill>
                <a:latin typeface="Gill Sans MT"/>
              </a:rPr>
              <a:t>Linux Command Review Questions</a:t>
            </a:r>
            <a:endParaRPr lang="en-CA" sz="1800" b="0" strike="noStrike" spc="-1">
              <a:latin typeface="Arial"/>
            </a:endParaRPr>
          </a:p>
          <a:p>
            <a:pPr marL="685800" lvl="1" indent="-22788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Performing </a:t>
            </a:r>
            <a:r>
              <a:rPr lang="en-CA" sz="1800" b="1" strike="noStrike" spc="-1">
                <a:solidFill>
                  <a:srgbClr val="000000"/>
                </a:solidFill>
                <a:latin typeface="Gill Sans MT"/>
              </a:rPr>
              <a:t>Review Tutorials 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(</a:t>
            </a:r>
            <a:r>
              <a:rPr lang="en-CA" b="1" spc="-1">
                <a:solidFill>
                  <a:srgbClr val="000000"/>
                </a:solidFill>
                <a:latin typeface="+mj-lt"/>
              </a:rPr>
              <a:t>1</a:t>
            </a:r>
            <a:r>
              <a:rPr lang="en-CA" sz="1800" b="0" strike="noStrike" spc="-1">
                <a:solidFill>
                  <a:srgbClr val="000000"/>
                </a:solidFill>
                <a:latin typeface="Gill Sans MT"/>
              </a:rPr>
              <a:t>)</a:t>
            </a:r>
            <a:endParaRPr lang="en-CA" sz="1800" b="0" strike="noStrike" spc="-1">
              <a:latin typeface="Arial"/>
            </a:endParaRPr>
          </a:p>
        </p:txBody>
      </p:sp>
      <p:pic>
        <p:nvPicPr>
          <p:cNvPr id="2" name="Picture 1" descr="A diagram of the Seneca Polytechnic Matrix Cluster">
            <a:extLst>
              <a:ext uri="{FF2B5EF4-FFF2-40B4-BE49-F238E27FC236}">
                <a16:creationId xmlns:a16="http://schemas.microsoft.com/office/drawing/2014/main" id="{AC01AB64-7C05-E08A-7CB2-7697ED6E2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355" y="2103565"/>
            <a:ext cx="4236065" cy="26508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1451520" y="1937579"/>
            <a:ext cx="6707059" cy="3790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4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Communicating with Matrix Server</a:t>
            </a:r>
            <a:endParaRPr lang="en-CA"/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In UNIX / Linux, a 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shell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 refers to an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interface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that allows a user to communicate with the OS.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UNIX / Linux has the ability to install 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GUI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(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Graphical User Interface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) that allows the user to launch applications via icons, graphically manage files, etc.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On the other hand, due to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bandwidth issues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and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large number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of Seneca students that remotely connect to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Matrix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server, it is </a:t>
            </a:r>
            <a:r>
              <a:rPr lang="en-CA" sz="2000" b="1" u="sng" strike="noStrike" spc="-1">
                <a:solidFill>
                  <a:srgbClr val="000000"/>
                </a:solidFill>
                <a:uFillTx/>
                <a:latin typeface="Gill Sans MT"/>
              </a:rPr>
              <a:t>NOT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feasible to connect via a GUI.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Therefore, it is only possible to interface with your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Matrix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account via a</a:t>
            </a:r>
            <a:r>
              <a:rPr lang="en-CA"/>
              <a:t>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CLI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(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Command Line Interface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), where students issue Linux commands to launch applications, manage files, etc...</a:t>
            </a:r>
            <a:endParaRPr lang="en-CA" sz="2000" b="0" strike="noStrike" spc="-1">
              <a:latin typeface="Arial"/>
            </a:endParaRPr>
          </a:p>
        </p:txBody>
      </p:sp>
      <p:pic>
        <p:nvPicPr>
          <p:cNvPr id="144" name="Picture 4" descr="A picture containing indoor&#10;&#10;Description automatically generated"/>
          <p:cNvPicPr/>
          <p:nvPr/>
        </p:nvPicPr>
        <p:blipFill>
          <a:blip r:embed="rId2"/>
          <a:stretch/>
        </p:blipFill>
        <p:spPr>
          <a:xfrm>
            <a:off x="8651192" y="2256605"/>
            <a:ext cx="2210760" cy="1385280"/>
          </a:xfrm>
          <a:prstGeom prst="rect">
            <a:avLst/>
          </a:prstGeom>
          <a:ln>
            <a:noFill/>
          </a:ln>
        </p:spPr>
      </p:pic>
      <p:pic>
        <p:nvPicPr>
          <p:cNvPr id="145" name="Picture 5" descr="A screenshot of a cell phone&#10;&#10;Description automatically generated"/>
          <p:cNvPicPr/>
          <p:nvPr/>
        </p:nvPicPr>
        <p:blipFill>
          <a:blip r:embed="rId3"/>
          <a:stretch/>
        </p:blipFill>
        <p:spPr>
          <a:xfrm>
            <a:off x="8651192" y="3981597"/>
            <a:ext cx="2210760" cy="1302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50" name="CustomShape 2"/>
          <p:cNvSpPr/>
          <p:nvPr/>
        </p:nvSpPr>
        <p:spPr>
          <a:xfrm>
            <a:off x="1451520" y="1853281"/>
            <a:ext cx="9602640" cy="210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85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3200" b="1" strike="noStrike" spc="-1">
                <a:solidFill>
                  <a:srgbClr val="000000"/>
                </a:solidFill>
                <a:latin typeface="Gill Sans MT"/>
              </a:rPr>
              <a:t>Accessing Matrix from your Home Computer:</a:t>
            </a:r>
            <a:endParaRPr lang="en-CA" sz="3200" b="0" strike="noStrike" spc="-1"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Based on the type of course delivery method, students may be required to learn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remotely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or 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hybrid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method of remote and in-class instruction.</a:t>
            </a:r>
            <a:endParaRPr lang="en-CA" sz="2000" b="0" strike="noStrike" spc="-1"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Students have an option to connect to their Matrix accounts via command-line (</a:t>
            </a:r>
            <a:r>
              <a:rPr lang="en-CA" sz="2000" b="0" strike="noStrike" spc="-1" err="1">
                <a:solidFill>
                  <a:srgbClr val="000000"/>
                </a:solidFill>
                <a:latin typeface="Gill Sans MT"/>
              </a:rPr>
              <a:t>eg.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000" b="1" strike="noStrike" spc="-1" err="1">
                <a:solidFill>
                  <a:srgbClr val="000000"/>
                </a:solidFill>
                <a:latin typeface="Gill Sans MT"/>
              </a:rPr>
              <a:t>ssh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command) or by running </a:t>
            </a:r>
            <a:r>
              <a:rPr lang="en-CA"/>
              <a:t>in the Seneca computer lab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graphical SSH application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(</a:t>
            </a:r>
            <a:r>
              <a:rPr lang="en-CA" sz="2000" b="0" strike="noStrike" spc="-1" err="1">
                <a:solidFill>
                  <a:srgbClr val="000000"/>
                </a:solidFill>
                <a:latin typeface="Gill Sans MT"/>
              </a:rPr>
              <a:t>eg.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SSH Secure Shell Client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).</a:t>
            </a:r>
            <a:endParaRPr lang="en-CA" sz="2000" b="0" strike="noStrike" spc="-1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87" y="3958267"/>
            <a:ext cx="2223151" cy="12633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557" y="4007174"/>
            <a:ext cx="1651565" cy="12143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4758" y="5290057"/>
            <a:ext cx="2851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ssh</a:t>
            </a:r>
            <a:r>
              <a:rPr lang="en-US" sz="1200"/>
              <a:t> command in command prompt</a:t>
            </a:r>
            <a:endParaRPr lang="en-CA" sz="1200"/>
          </a:p>
        </p:txBody>
      </p:sp>
      <p:sp>
        <p:nvSpPr>
          <p:cNvPr id="9" name="TextBox 8"/>
          <p:cNvSpPr txBox="1"/>
          <p:nvPr/>
        </p:nvSpPr>
        <p:spPr>
          <a:xfrm>
            <a:off x="6234288" y="5290057"/>
            <a:ext cx="2851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ssh</a:t>
            </a:r>
            <a:r>
              <a:rPr lang="en-US" sz="1200"/>
              <a:t> graphical application</a:t>
            </a:r>
            <a:br>
              <a:rPr lang="en-US" sz="1200"/>
            </a:br>
            <a:r>
              <a:rPr lang="en-US" sz="1200"/>
              <a:t> in Windows</a:t>
            </a:r>
            <a:endParaRPr lang="en-CA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1451520" y="1853279"/>
            <a:ext cx="8175956" cy="3926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4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Connecting to the Seneca GlobalProtect Student VPN</a:t>
            </a:r>
            <a:br>
              <a:rPr sz="1400"/>
            </a:br>
            <a:br>
              <a:rPr sz="1100"/>
            </a:b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All Seneca </a:t>
            </a:r>
            <a:r>
              <a:rPr lang="en-CA" sz="1600" spc="-1">
                <a:solidFill>
                  <a:srgbClr val="000000"/>
                </a:solidFill>
                <a:latin typeface="Gill Sans MT"/>
              </a:rPr>
              <a:t>Polytechnic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 students are required to </a:t>
            </a:r>
            <a:r>
              <a:rPr lang="en-CA" sz="1600" b="1" u="sng" strike="noStrike" spc="-1">
                <a:solidFill>
                  <a:srgbClr val="000000"/>
                </a:solidFill>
                <a:uFillTx/>
                <a:latin typeface="Gill Sans MT"/>
              </a:rPr>
              <a:t>FIRST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 connect to the </a:t>
            </a:r>
            <a:r>
              <a:rPr lang="en-CA" sz="1600" b="1" strike="noStrike" spc="-1">
                <a:solidFill>
                  <a:srgbClr val="000000"/>
                </a:solidFill>
                <a:latin typeface="Gill Sans MT"/>
              </a:rPr>
              <a:t>Seneca GlobalProtect Student VPN 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in order to be able to connect </a:t>
            </a:r>
            <a:r>
              <a:rPr lang="en-CA" sz="1600" b="1" strike="noStrike" spc="-1">
                <a:solidFill>
                  <a:srgbClr val="000000"/>
                </a:solidFill>
                <a:latin typeface="Gill Sans MT"/>
              </a:rPr>
              <a:t>remotely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 to their </a:t>
            </a:r>
            <a:r>
              <a:rPr lang="en-CA" sz="1600" b="1" strike="noStrike" spc="-1">
                <a:solidFill>
                  <a:srgbClr val="000000"/>
                </a:solidFill>
                <a:latin typeface="Gill Sans MT"/>
              </a:rPr>
              <a:t>Matrix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 Linux account.</a:t>
            </a:r>
            <a:r>
              <a:rPr lang="en-CA" sz="1600" spc="-1">
                <a:solidFill>
                  <a:srgbClr val="000000"/>
                </a:solidFill>
                <a:latin typeface="Gill Sans MT"/>
              </a:rPr>
              <a:t> M</a:t>
            </a:r>
            <a:r>
              <a:rPr lang="en-CA" sz="1600" b="1" spc="-1">
                <a:solidFill>
                  <a:srgbClr val="000000"/>
                </a:solidFill>
                <a:latin typeface="Gill Sans MT"/>
              </a:rPr>
              <a:t>ulti-factored</a:t>
            </a:r>
            <a:r>
              <a:rPr lang="en-CA" sz="1600" b="1" strike="noStrike" spc="-1">
                <a:solidFill>
                  <a:srgbClr val="000000"/>
                </a:solidFill>
                <a:latin typeface="Gill Sans MT"/>
              </a:rPr>
              <a:t> authentication</a:t>
            </a:r>
            <a:r>
              <a:rPr lang="en-CA" sz="1600" spc="-1">
                <a:solidFill>
                  <a:srgbClr val="000000"/>
                </a:solidFill>
                <a:latin typeface="Gill Sans MT"/>
              </a:rPr>
              <a:t> provides additional security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.</a:t>
            </a:r>
            <a:endParaRPr lang="en-CA" sz="16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600" b="0" i="1" strike="noStrike" spc="-1">
                <a:solidFill>
                  <a:srgbClr val="000000"/>
                </a:solidFill>
                <a:latin typeface="Gill Sans MT"/>
              </a:rPr>
              <a:t>Multi-factor authentication is an electronic authentication method in which a computer user is granted access to a website or application only after successfully presenting two or more pieces of evidence (or factors) to an authentication mechanism: knowledge (something the user and only the user knows).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 </a:t>
            </a:r>
            <a:br>
              <a:rPr sz="1400"/>
            </a:br>
            <a:br>
              <a:rPr sz="1400"/>
            </a:b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Reference: </a:t>
            </a:r>
            <a:r>
              <a:rPr lang="en-CA" sz="1600" b="0" u="sng" strike="noStrike" spc="-1">
                <a:solidFill>
                  <a:srgbClr val="FA2B5C"/>
                </a:solidFill>
                <a:uFillTx/>
                <a:latin typeface="Gill Sans MT"/>
                <a:hlinkClick r:id="rId2"/>
              </a:rPr>
              <a:t>https://en.wikipedia.org/wiki/Multi-factor_authentication</a:t>
            </a:r>
            <a:br>
              <a:rPr sz="1400"/>
            </a:br>
            <a:br>
              <a:rPr sz="1400"/>
            </a:br>
            <a:r>
              <a:rPr lang="en-CA" sz="1600" b="1" strike="noStrike" spc="-1">
                <a:solidFill>
                  <a:srgbClr val="000000"/>
                </a:solidFill>
                <a:latin typeface="Gill Sans MT"/>
              </a:rPr>
              <a:t>NOTE:</a:t>
            </a:r>
            <a:r>
              <a:rPr lang="en-CA" sz="1600" b="0" strike="noStrike" spc="-1">
                <a:solidFill>
                  <a:srgbClr val="000000"/>
                </a:solidFill>
                <a:latin typeface="Gill Sans MT"/>
              </a:rPr>
              <a:t> If you haven't done this yet, please perform the steps provided in the following link: </a:t>
            </a:r>
            <a:r>
              <a:rPr lang="en-CA" sz="1600" b="0" u="sng" strike="noStrike" spc="-1">
                <a:solidFill>
                  <a:srgbClr val="FA2B5C"/>
                </a:solidFill>
                <a:uFillTx/>
                <a:latin typeface="Gill Sans MT"/>
                <a:hlinkClick r:id="rId3"/>
              </a:rPr>
              <a:t>https://students.</a:t>
            </a:r>
            <a:r>
              <a:rPr lang="en-CA" sz="1600" u="sng" spc="-1">
                <a:solidFill>
                  <a:srgbClr val="FA2B5C"/>
                </a:solidFill>
                <a:latin typeface="Gill Sans MT"/>
                <a:hlinkClick r:id="rId3"/>
              </a:rPr>
              <a:t>senecapolytechnic</a:t>
            </a:r>
            <a:r>
              <a:rPr lang="en-CA" sz="1600" b="0" u="sng" strike="noStrike" spc="-1">
                <a:solidFill>
                  <a:srgbClr val="FA2B5C"/>
                </a:solidFill>
                <a:uFillTx/>
                <a:latin typeface="Gill Sans MT"/>
                <a:hlinkClick r:id="rId3"/>
              </a:rPr>
              <a:t>.ca/spaces/186/it-services/wiki/view/</a:t>
            </a:r>
            <a:r>
              <a:rPr lang="en-CA" sz="1600" u="sng" spc="-1">
                <a:solidFill>
                  <a:srgbClr val="FA2B5C"/>
                </a:solidFill>
                <a:latin typeface="Gill Sans MT"/>
                <a:hlinkClick r:id="rId3"/>
              </a:rPr>
              <a:t>1024</a:t>
            </a:r>
            <a:r>
              <a:rPr lang="en-CA" sz="1600" b="0" u="sng" strike="noStrike" spc="-1">
                <a:solidFill>
                  <a:srgbClr val="FA2B5C"/>
                </a:solidFill>
                <a:uFillTx/>
                <a:latin typeface="Gill Sans MT"/>
                <a:hlinkClick r:id="rId3"/>
              </a:rPr>
              <a:t>/</a:t>
            </a:r>
            <a:r>
              <a:rPr lang="en-CA" sz="1600" u="sng" spc="-1">
                <a:solidFill>
                  <a:srgbClr val="FA2B5C"/>
                </a:solidFill>
                <a:latin typeface="Gill Sans MT"/>
                <a:hlinkClick r:id="rId3"/>
              </a:rPr>
              <a:t>vpn</a:t>
            </a:r>
            <a:endParaRPr lang="en-CA" sz="1600" b="0" strike="noStrike" spc="-1">
              <a:latin typeface="Arial"/>
            </a:endParaRPr>
          </a:p>
        </p:txBody>
      </p:sp>
      <p:pic>
        <p:nvPicPr>
          <p:cNvPr id="155" name="Picture 4" descr="A screenshot of a cell phone&#10;&#10;Description automatically generated"/>
          <p:cNvPicPr/>
          <p:nvPr/>
        </p:nvPicPr>
        <p:blipFill>
          <a:blip r:embed="rId4"/>
          <a:stretch/>
        </p:blipFill>
        <p:spPr>
          <a:xfrm>
            <a:off x="10105913" y="2762127"/>
            <a:ext cx="1269134" cy="1333746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1452480" y="1853280"/>
            <a:ext cx="9288000" cy="39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75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600" b="1" strike="noStrike" spc="-1">
                <a:solidFill>
                  <a:srgbClr val="000000"/>
                </a:solidFill>
                <a:latin typeface="Gill Sans MT"/>
              </a:rPr>
              <a:t>Accessing Matrix Using SSH on Windows 10/11, macOS or Linux:</a:t>
            </a:r>
            <a:endParaRPr lang="en-CA" sz="16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1200" b="1" u="sng" spc="-1">
                <a:solidFill>
                  <a:srgbClr val="000000"/>
                </a:solidFill>
                <a:latin typeface="Gill Sans MT" panose="020B0502020104020203" pitchFamily="34" charset="0"/>
              </a:rPr>
              <a:t>Open a terminal on </a:t>
            </a:r>
            <a:r>
              <a:rPr lang="en-CA" sz="1200" b="1" u="sng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Windows 10/11</a:t>
            </a:r>
            <a:endParaRPr lang="en-CA" sz="1200" b="0" u="sng" strike="noStrike" spc="-1">
              <a:latin typeface="Gill Sans MT" panose="020B0502020104020203" pitchFamily="34" charset="0"/>
            </a:endParaRPr>
          </a:p>
          <a:p>
            <a:pPr marL="685800" lvl="1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From the </a:t>
            </a:r>
            <a:r>
              <a:rPr lang="en-CA" sz="1200" b="1" strike="noStrike" spc="-1">
                <a:solidFill>
                  <a:srgbClr val="000000"/>
                </a:solidFill>
                <a:latin typeface="Gill Sans MT"/>
              </a:rPr>
              <a:t>start menu</a:t>
            </a: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, type </a:t>
            </a:r>
            <a:r>
              <a:rPr lang="en-CA" sz="1200" b="1" strike="noStrike" spc="-1" err="1">
                <a:solidFill>
                  <a:srgbClr val="000000"/>
                </a:solidFill>
                <a:latin typeface="Gill Sans MT"/>
              </a:rPr>
              <a:t>cmd</a:t>
            </a:r>
            <a:r>
              <a:rPr lang="en-CA" sz="1200" b="1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and</a:t>
            </a:r>
            <a:r>
              <a:rPr lang="en-CA" sz="1200" b="1" strike="noStrike" spc="-1">
                <a:solidFill>
                  <a:srgbClr val="000000"/>
                </a:solidFill>
                <a:latin typeface="Gill Sans MT"/>
              </a:rPr>
              <a:t> click </a:t>
            </a: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on </a:t>
            </a:r>
            <a:r>
              <a:rPr lang="en-CA" sz="1200" b="0" i="1" strike="noStrike" spc="-1" err="1">
                <a:solidFill>
                  <a:srgbClr val="000000"/>
                </a:solidFill>
                <a:latin typeface="Gill Sans MT"/>
              </a:rPr>
              <a:t>cmd</a:t>
            </a: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 icon to launch.</a:t>
            </a:r>
            <a:endParaRPr lang="en-CA" sz="1200" b="0" strike="noStrike" spc="-1">
              <a:latin typeface="Arial"/>
            </a:endParaRPr>
          </a:p>
          <a:p>
            <a:pPr marL="635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tabLst>
                <a:tab pos="0" algn="l"/>
              </a:tabLst>
            </a:pPr>
            <a:r>
              <a:rPr lang="en-US" sz="1200" b="1" u="sng" strike="noStrike" spc="-1">
                <a:solidFill>
                  <a:srgbClr val="000000"/>
                </a:solidFill>
                <a:latin typeface="Gill Sans MT"/>
              </a:rPr>
              <a:t>Open a terminal in macOS</a:t>
            </a:r>
            <a:endParaRPr lang="en-US" sz="1200" b="0" u="sng" strike="noStrike" spc="-1">
              <a:latin typeface="Arial"/>
            </a:endParaRPr>
          </a:p>
          <a:p>
            <a:pPr marL="685800" lvl="1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Open </a:t>
            </a:r>
            <a:r>
              <a:rPr lang="en-US" sz="1200" b="1" strike="noStrike" spc="-1">
                <a:solidFill>
                  <a:srgbClr val="000000"/>
                </a:solidFill>
                <a:latin typeface="Gill Sans MT"/>
              </a:rPr>
              <a:t>Finder</a:t>
            </a: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, go to </a:t>
            </a:r>
            <a:r>
              <a:rPr lang="en-US" sz="1200" b="1" strike="noStrike" spc="-1">
                <a:solidFill>
                  <a:srgbClr val="000000"/>
                </a:solidFill>
                <a:latin typeface="Gill Sans MT"/>
              </a:rPr>
              <a:t>Applications &gt; Utilities</a:t>
            </a: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, and click on the </a:t>
            </a:r>
            <a:r>
              <a:rPr lang="en-US" sz="1200" b="1" strike="noStrike" spc="-1">
                <a:solidFill>
                  <a:srgbClr val="000000"/>
                </a:solidFill>
                <a:latin typeface="Gill Sans MT"/>
              </a:rPr>
              <a:t>Terminal </a:t>
            </a: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icon.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1" u="sng" strike="noStrike" spc="-1">
                <a:solidFill>
                  <a:srgbClr val="000000"/>
                </a:solidFill>
                <a:latin typeface="Gill Sans MT" panose="020B0502020104020203" pitchFamily="34" charset="0"/>
              </a:rPr>
              <a:t>Open a terminal in Linux</a:t>
            </a:r>
            <a:endParaRPr lang="en-US" sz="1200" b="0" u="sng" strike="noStrike" spc="-1">
              <a:latin typeface="Gill Sans MT" panose="020B0502020104020203" pitchFamily="34" charset="0"/>
            </a:endParaRPr>
          </a:p>
          <a:p>
            <a:pPr marL="685800" lvl="1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From </a:t>
            </a:r>
            <a:r>
              <a:rPr lang="en-US" sz="1200" b="1" strike="noStrike" spc="-1">
                <a:solidFill>
                  <a:srgbClr val="000000"/>
                </a:solidFill>
                <a:latin typeface="Gill Sans MT"/>
              </a:rPr>
              <a:t>the main menu</a:t>
            </a: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, choose </a:t>
            </a:r>
            <a:r>
              <a:rPr lang="en-US" sz="1200" b="1" strike="noStrike" spc="-1">
                <a:solidFill>
                  <a:srgbClr val="000000"/>
                </a:solidFill>
                <a:latin typeface="Gill Sans MT"/>
              </a:rPr>
              <a:t>Applications</a:t>
            </a: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 &gt; </a:t>
            </a:r>
            <a:r>
              <a:rPr lang="en-US" sz="1200" b="1" strike="noStrike" spc="-1">
                <a:solidFill>
                  <a:srgbClr val="000000"/>
                </a:solidFill>
                <a:latin typeface="Gill Sans MT"/>
              </a:rPr>
              <a:t>System Tools </a:t>
            </a:r>
            <a:r>
              <a:rPr lang="en-US" sz="1200" b="0" strike="noStrike" spc="-1">
                <a:solidFill>
                  <a:srgbClr val="000000"/>
                </a:solidFill>
                <a:latin typeface="Gill Sans MT"/>
              </a:rPr>
              <a:t>&gt; </a:t>
            </a:r>
            <a:r>
              <a:rPr lang="en-US" sz="1200" b="1" strike="noStrike" spc="-1">
                <a:solidFill>
                  <a:srgbClr val="000000"/>
                </a:solidFill>
                <a:latin typeface="Gill Sans MT"/>
              </a:rPr>
              <a:t>Terminal</a:t>
            </a:r>
          </a:p>
          <a:p>
            <a:pPr marL="635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tabLst>
                <a:tab pos="0" algn="l"/>
              </a:tabLst>
            </a:pPr>
            <a:r>
              <a:rPr lang="en-US" sz="1200" b="1" spc="-1">
                <a:solidFill>
                  <a:srgbClr val="000000"/>
                </a:solidFill>
                <a:latin typeface="Gill Sans MT"/>
              </a:rPr>
              <a:t>NOTE:  </a:t>
            </a:r>
            <a:r>
              <a:rPr lang="en-US" sz="1200" spc="-1">
                <a:solidFill>
                  <a:srgbClr val="000000"/>
                </a:solidFill>
                <a:latin typeface="Gill Sans MT"/>
              </a:rPr>
              <a:t>Regardless of the operating systems, in the command line:</a:t>
            </a:r>
          </a:p>
          <a:p>
            <a:pPr marL="685800" lvl="1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200" spc="-1">
                <a:solidFill>
                  <a:srgbClr val="000000"/>
                </a:solidFill>
                <a:latin typeface="Gill Sans MT"/>
              </a:rPr>
              <a:t>E</a:t>
            </a: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nter the following command: </a:t>
            </a:r>
            <a:r>
              <a:rPr lang="en-CA" sz="1200" b="1" strike="noStrike" spc="-1">
                <a:solidFill>
                  <a:srgbClr val="0070C0"/>
                </a:solidFill>
                <a:latin typeface="Gill Sans MT"/>
              </a:rPr>
              <a:t>ssh senecausername@matrix.</a:t>
            </a:r>
            <a:r>
              <a:rPr lang="en-CA" sz="1200" b="1" spc="-1">
                <a:solidFill>
                  <a:srgbClr val="0070C0"/>
                </a:solidFill>
                <a:latin typeface="Gill Sans MT"/>
              </a:rPr>
              <a:t>senecapolytechnic</a:t>
            </a:r>
            <a:r>
              <a:rPr lang="en-CA" sz="1200" b="1" strike="noStrike" spc="-1">
                <a:solidFill>
                  <a:srgbClr val="0070C0"/>
                </a:solidFill>
                <a:latin typeface="Gill Sans MT"/>
              </a:rPr>
              <a:t>.ca</a:t>
            </a:r>
          </a:p>
          <a:p>
            <a:pPr marL="1143000" lvl="2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200" spc="-1">
                <a:solidFill>
                  <a:srgbClr val="000000"/>
                </a:solidFill>
                <a:latin typeface="Gill Sans MT"/>
              </a:rPr>
              <a:t>For example, a student with an e-mail address of </a:t>
            </a:r>
            <a:r>
              <a:rPr lang="en-CA" sz="1200" i="1" u="sng" spc="-1">
                <a:solidFill>
                  <a:srgbClr val="000000"/>
                </a:solidFill>
                <a:latin typeface="Gill Sans MT"/>
              </a:rPr>
              <a:t>cjohnson30@myseneca.ca</a:t>
            </a:r>
            <a:r>
              <a:rPr lang="en-CA" sz="1200" spc="-1">
                <a:solidFill>
                  <a:srgbClr val="000000"/>
                </a:solidFill>
                <a:latin typeface="Gill Sans MT"/>
              </a:rPr>
              <a:t>: </a:t>
            </a:r>
            <a:r>
              <a:rPr lang="en-CA" sz="1200" b="1" spc="-1">
                <a:solidFill>
                  <a:srgbClr val="0070C0"/>
                </a:solidFill>
                <a:latin typeface="Gill Sans MT"/>
              </a:rPr>
              <a:t>ssh cjohnson30@matrix.seneca</a:t>
            </a:r>
            <a:r>
              <a:rPr lang="en-CA" sz="1200" b="1" spc="-1">
                <a:solidFill>
                  <a:srgbClr val="0070C0"/>
                </a:solidFill>
                <a:ea typeface="+mn-lt"/>
                <a:cs typeface="+mn-lt"/>
              </a:rPr>
              <a:t>polytechnic</a:t>
            </a:r>
            <a:r>
              <a:rPr lang="en-CA" sz="1200" b="1" spc="-1">
                <a:solidFill>
                  <a:srgbClr val="0070C0"/>
                </a:solidFill>
                <a:latin typeface="Gill Sans MT"/>
              </a:rPr>
              <a:t>.ca</a:t>
            </a:r>
            <a:endParaRPr lang="en-CA" sz="1200" spc="-1">
              <a:latin typeface="Arial"/>
            </a:endParaRPr>
          </a:p>
          <a:p>
            <a:pPr marL="685800" lvl="1" indent="-22733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  <a:tabLst>
                <a:tab pos="0" algn="l"/>
              </a:tabLst>
            </a:pP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Enter your password when prompted. (Answer </a:t>
            </a:r>
            <a:r>
              <a:rPr lang="en-CA" sz="1200" b="1" strike="noStrike" spc="-1">
                <a:solidFill>
                  <a:srgbClr val="000000"/>
                </a:solidFill>
                <a:latin typeface="Gill Sans MT"/>
              </a:rPr>
              <a:t>yes</a:t>
            </a:r>
            <a:r>
              <a:rPr lang="en-CA" sz="1200" b="0" strike="noStrike" spc="-1">
                <a:solidFill>
                  <a:srgbClr val="000000"/>
                </a:solidFill>
                <a:latin typeface="Gill Sans MT"/>
              </a:rPr>
              <a:t> to any questions it may ask you.)</a:t>
            </a:r>
          </a:p>
        </p:txBody>
      </p:sp>
      <p:pic>
        <p:nvPicPr>
          <p:cNvPr id="158" name="Picture 3" descr="A picture containing clock,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809140" y="368820"/>
            <a:ext cx="1088820" cy="1048680"/>
          </a:xfrm>
          <a:prstGeom prst="rect">
            <a:avLst/>
          </a:prstGeom>
          <a:ln>
            <a:noFill/>
          </a:ln>
        </p:spPr>
      </p:pic>
      <p:pic>
        <p:nvPicPr>
          <p:cNvPr id="159" name="Picture 6" descr="A close up of a sign&#10;&#10;Description automatically generated"/>
          <p:cNvPicPr/>
          <p:nvPr/>
        </p:nvPicPr>
        <p:blipFill>
          <a:blip r:embed="rId3"/>
          <a:stretch/>
        </p:blipFill>
        <p:spPr>
          <a:xfrm>
            <a:off x="8414460" y="3050280"/>
            <a:ext cx="870840" cy="757440"/>
          </a:xfrm>
          <a:prstGeom prst="rect">
            <a:avLst/>
          </a:prstGeom>
          <a:ln>
            <a:noFill/>
          </a:ln>
        </p:spPr>
      </p:pic>
      <p:pic>
        <p:nvPicPr>
          <p:cNvPr id="160" name="Picture 9" descr="A picture containing toy, yellow&#10;&#10;Description automatically generated"/>
          <p:cNvPicPr/>
          <p:nvPr/>
        </p:nvPicPr>
        <p:blipFill>
          <a:blip r:embed="rId4"/>
          <a:stretch/>
        </p:blipFill>
        <p:spPr>
          <a:xfrm>
            <a:off x="8414460" y="3850920"/>
            <a:ext cx="870840" cy="870840"/>
          </a:xfrm>
          <a:prstGeom prst="rect">
            <a:avLst/>
          </a:prstGeom>
          <a:ln>
            <a:noFill/>
          </a:ln>
        </p:spPr>
      </p:pic>
      <p:pic>
        <p:nvPicPr>
          <p:cNvPr id="161" name="Picture 5" descr="A picture containing clock&#10;&#10;Description automatically generated"/>
          <p:cNvPicPr/>
          <p:nvPr/>
        </p:nvPicPr>
        <p:blipFill>
          <a:blip r:embed="rId5"/>
          <a:stretch/>
        </p:blipFill>
        <p:spPr>
          <a:xfrm>
            <a:off x="8325540" y="2030400"/>
            <a:ext cx="1048680" cy="1048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1451519" y="1871036"/>
            <a:ext cx="9796853" cy="40282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685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Accessing Your Matrix Account / Continued…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spc="-1">
                <a:solidFill>
                  <a:srgbClr val="000000"/>
                </a:solidFill>
                <a:latin typeface="Gill Sans MT"/>
              </a:rPr>
              <a:t>Your Matrix username and password is </a:t>
            </a:r>
            <a:r>
              <a:rPr lang="en-CA" sz="2000" b="1" u="sng" spc="-1">
                <a:solidFill>
                  <a:srgbClr val="000000"/>
                </a:solidFill>
                <a:latin typeface="Gill Sans MT"/>
              </a:rPr>
              <a:t>identical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to your </a:t>
            </a:r>
            <a:r>
              <a:rPr lang="en-CA" sz="2000" b="1" spc="-1" err="1">
                <a:solidFill>
                  <a:srgbClr val="000000"/>
                </a:solidFill>
                <a:latin typeface="Gill Sans MT"/>
              </a:rPr>
              <a:t>myseneca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000" i="1" spc="-1">
                <a:solidFill>
                  <a:srgbClr val="000000"/>
                </a:solidFill>
                <a:latin typeface="Gill Sans MT"/>
              </a:rPr>
              <a:t>username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and </a:t>
            </a:r>
            <a:r>
              <a:rPr lang="en-CA" sz="2000" i="1" spc="-1">
                <a:solidFill>
                  <a:srgbClr val="000000"/>
                </a:solidFill>
                <a:latin typeface="Gill Sans MT"/>
              </a:rPr>
              <a:t>password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. If you were located </a:t>
            </a:r>
            <a:r>
              <a:rPr lang="en-CA" sz="2000" b="1" u="sng" spc="-1">
                <a:solidFill>
                  <a:srgbClr val="000000"/>
                </a:solidFill>
                <a:latin typeface="Gill Sans MT"/>
              </a:rPr>
              <a:t>outside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 Seneca's network, then you would need to enter the full domain name: 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pc="-1">
                <a:solidFill>
                  <a:srgbClr val="000000"/>
                </a:solidFill>
                <a:latin typeface="Gill Sans MT"/>
              </a:rPr>
              <a:t>matrix.senecapolytechnic.ca</a:t>
            </a:r>
            <a:endParaRPr lang="en-CA" sz="2000" spc="-1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spc="-1">
                <a:solidFill>
                  <a:srgbClr val="000000"/>
                </a:solidFill>
                <a:latin typeface="Gill Sans MT"/>
              </a:rPr>
              <a:t>I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f this is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first time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that you are connecting to your Matrix account from your computer, you will be prompted to accept Matrix’s fingerprint. This is a security precaution to ensure you’re connecting to the right system.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000" spc="-1">
                <a:solidFill>
                  <a:srgbClr val="000000"/>
                </a:solidFill>
                <a:latin typeface="Gill Sans MT"/>
              </a:rPr>
              <a:t>Simply type </a:t>
            </a:r>
            <a:r>
              <a:rPr lang="en-US" sz="2000" b="1" spc="-1">
                <a:solidFill>
                  <a:srgbClr val="000000"/>
                </a:solidFill>
                <a:latin typeface="Gill Sans MT"/>
              </a:rPr>
              <a:t>yes</a:t>
            </a:r>
            <a:r>
              <a:rPr lang="en-US" sz="2000" spc="-1">
                <a:solidFill>
                  <a:srgbClr val="000000"/>
                </a:solidFill>
                <a:latin typeface="Gill Sans MT"/>
              </a:rPr>
              <a:t> and press </a:t>
            </a:r>
            <a:r>
              <a:rPr lang="en-US" sz="2000" b="1" spc="-1">
                <a:solidFill>
                  <a:srgbClr val="000000"/>
                </a:solidFill>
                <a:latin typeface="Gill Sans MT"/>
              </a:rPr>
              <a:t>ENTER.</a:t>
            </a:r>
            <a:endParaRPr lang="en-CA" b="1"/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NOTE: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  When using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ssh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command, as you type your password, the characters do NOT echo back (e.g. Like showing “dots”).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  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That is </a:t>
            </a:r>
            <a:r>
              <a:rPr lang="en-CA" sz="2000" b="1" u="sng" strike="noStrike" spc="-1">
                <a:solidFill>
                  <a:srgbClr val="000000"/>
                </a:solidFill>
                <a:latin typeface="Gill Sans MT"/>
              </a:rPr>
              <a:t>normal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for this command and just continue entering your password. (It may take you a few tries to get used to this.)</a:t>
            </a:r>
          </a:p>
          <a:p>
            <a:endParaRPr lang="en-US" b="1"/>
          </a:p>
          <a:p>
            <a:r>
              <a:rPr lang="en-US" b="1"/>
              <a:t>NOTE:</a:t>
            </a:r>
            <a:r>
              <a:rPr lang="en-US"/>
              <a:t> If you encounter an </a:t>
            </a:r>
            <a:r>
              <a:rPr lang="en-US" b="1"/>
              <a:t>error message</a:t>
            </a:r>
            <a:r>
              <a:rPr lang="en-US"/>
              <a:t>, this can occur for several reasons:</a:t>
            </a:r>
            <a:br>
              <a:rPr lang="en-US"/>
            </a:br>
            <a:endParaRPr lang="en-US"/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You misspelled the </a:t>
            </a:r>
            <a:r>
              <a:rPr lang="en-US" b="1"/>
              <a:t>name of the server.</a:t>
            </a:r>
            <a:endParaRPr lang="en-US"/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You misspelled your Matrix </a:t>
            </a:r>
            <a:r>
              <a:rPr lang="en-US" b="1"/>
              <a:t>username</a:t>
            </a:r>
            <a:r>
              <a:rPr lang="en-US"/>
              <a:t> (same username that you connect to my.senecacollege.ca).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You have </a:t>
            </a:r>
            <a:r>
              <a:rPr lang="en-US" b="1"/>
              <a:t>CAPS LOCK</a:t>
            </a:r>
            <a:r>
              <a:rPr lang="en-US"/>
              <a:t> on by mistake (your username should be </a:t>
            </a:r>
            <a:r>
              <a:rPr lang="en-US" b="1"/>
              <a:t>lowercase</a:t>
            </a:r>
            <a:r>
              <a:rPr lang="en-US"/>
              <a:t> only).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You misspelled your </a:t>
            </a:r>
            <a:r>
              <a:rPr lang="en-US" b="1"/>
              <a:t>password</a:t>
            </a:r>
            <a:r>
              <a:rPr lang="en-US"/>
              <a:t> (same password that you connect to my.senecacollege.ca).</a:t>
            </a:r>
          </a:p>
          <a:p>
            <a:br>
              <a:rPr lang="en-US"/>
            </a:br>
            <a:r>
              <a:rPr lang="en-US"/>
              <a:t>If you continue to experience the same problems, click on the following link for </a:t>
            </a:r>
            <a:r>
              <a:rPr lang="en-US" b="1"/>
              <a:t>IT service desk </a:t>
            </a:r>
            <a:r>
              <a:rPr lang="en-US"/>
              <a:t>contact info: </a:t>
            </a:r>
            <a:r>
              <a:rPr lang="en-US" b="1">
                <a:hlinkClick r:id="rId2"/>
              </a:rPr>
              <a:t>IT service desk</a:t>
            </a:r>
            <a:endParaRPr lang="en-CA" sz="2000" b="0" strike="noStrike" spc="-1">
              <a:latin typeface="Arial"/>
              <a:hlinkClick r:id="rId2"/>
            </a:endParaRPr>
          </a:p>
        </p:txBody>
      </p:sp>
      <p:pic>
        <p:nvPicPr>
          <p:cNvPr id="5" name="Picture 3" descr="A picture containing clock, drawing&#10;&#10;Description automatically generated"/>
          <p:cNvPicPr/>
          <p:nvPr/>
        </p:nvPicPr>
        <p:blipFill>
          <a:blip r:embed="rId3"/>
          <a:stretch/>
        </p:blipFill>
        <p:spPr>
          <a:xfrm>
            <a:off x="10809140" y="368820"/>
            <a:ext cx="1088820" cy="1048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80" name="CustomShape 2"/>
          <p:cNvSpPr/>
          <p:nvPr/>
        </p:nvSpPr>
        <p:spPr>
          <a:xfrm>
            <a:off x="1451519" y="1871037"/>
            <a:ext cx="9602640" cy="27009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Logging Out of  Your Matrix Linux Account: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When you want to log-out of your Matrix server account, you can enter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commands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CA" sz="2000" b="1" strike="noStrike" spc="-1">
                <a:solidFill>
                  <a:srgbClr val="0070C0"/>
                </a:solidFill>
                <a:latin typeface="Gill Sans MT"/>
              </a:rPr>
              <a:t>exit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, </a:t>
            </a:r>
            <a:r>
              <a:rPr lang="en-CA" sz="2000" b="1" strike="noStrike" spc="-1">
                <a:solidFill>
                  <a:srgbClr val="0070C0"/>
                </a:solidFill>
                <a:latin typeface="Gill Sans MT"/>
              </a:rPr>
              <a:t>logout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, or press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shortcut key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: </a:t>
            </a:r>
            <a:r>
              <a:rPr lang="en-CA" sz="2000" b="1" strike="noStrike" spc="-1">
                <a:solidFill>
                  <a:srgbClr val="0070C0"/>
                </a:solidFill>
                <a:latin typeface="Gill Sans MT"/>
              </a:rPr>
              <a:t>&lt;ctrl&gt;&lt;d&gt;</a:t>
            </a:r>
            <a:endParaRPr lang="en-CA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NOTE: 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You should exit by issuing 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command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or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shortcut key 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as </a:t>
            </a:r>
            <a:br>
              <a:rPr/>
            </a:b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             opposed to closing the SSH application window.</a:t>
            </a:r>
            <a:endParaRPr lang="en-CA" sz="2000" b="0" strike="noStrike" spc="-1">
              <a:latin typeface="Arial"/>
            </a:endParaRPr>
          </a:p>
        </p:txBody>
      </p:sp>
      <p:pic>
        <p:nvPicPr>
          <p:cNvPr id="181" name="Picture 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537795" y="609599"/>
            <a:ext cx="1032729" cy="100401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1451519" y="1853280"/>
            <a:ext cx="8651485" cy="1653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Instructor Demonstration: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Your instructor will demonstrate how to connect to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Matrix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server by issuing a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command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from the </a:t>
            </a:r>
            <a:r>
              <a:rPr lang="en-CA" sz="2000" b="1" spc="-1">
                <a:solidFill>
                  <a:srgbClr val="000000"/>
                </a:solidFill>
                <a:latin typeface="Gill Sans MT"/>
              </a:rPr>
              <a:t>OS command prompt 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on your </a:t>
            </a:r>
            <a:r>
              <a:rPr lang="en-CA" sz="2000" u="sng" spc="-1">
                <a:solidFill>
                  <a:srgbClr val="000000"/>
                </a:solidFill>
                <a:latin typeface="Gill Sans MT"/>
              </a:rPr>
              <a:t>home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computer.</a:t>
            </a:r>
            <a:endParaRPr lang="en-CA" sz="2000" b="0" strike="noStrike" spc="-1">
              <a:latin typeface="Arial"/>
            </a:endParaRPr>
          </a:p>
        </p:txBody>
      </p:sp>
      <p:pic>
        <p:nvPicPr>
          <p:cNvPr id="167" name="Picture 5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9477960" y="493494"/>
            <a:ext cx="1262520" cy="1262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spc="-1"/>
          </a:p>
        </p:txBody>
      </p:sp>
      <p:sp>
        <p:nvSpPr>
          <p:cNvPr id="166" name="CustomShape 2"/>
          <p:cNvSpPr/>
          <p:nvPr/>
        </p:nvSpPr>
        <p:spPr>
          <a:xfrm>
            <a:off x="1451520" y="1853279"/>
            <a:ext cx="6984909" cy="39462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pc="-1">
                <a:solidFill>
                  <a:srgbClr val="000000"/>
                </a:solidFill>
                <a:latin typeface="Gill Sans MT" panose="020B0502020104020203" pitchFamily="34" charset="0"/>
              </a:rPr>
              <a:t>Accessing Matrix in Seneca Computer Lab        (via MyApps)</a:t>
            </a:r>
            <a:endParaRPr lang="en-CA" sz="2400" spc="-1">
              <a:latin typeface="Gill Sans MT" panose="020B0502020104020203" pitchFamily="34" charset="0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>
                <a:latin typeface="Gill Sans MT" panose="020B0502020104020203" pitchFamily="34" charset="0"/>
              </a:rPr>
              <a:t>You can also connect to your Matrix server account in the </a:t>
            </a:r>
            <a:r>
              <a:rPr lang="en-US" sz="1600" b="1">
                <a:latin typeface="Gill Sans MT" panose="020B0502020104020203" pitchFamily="34" charset="0"/>
              </a:rPr>
              <a:t>Seneca Computer lab </a:t>
            </a:r>
            <a:r>
              <a:rPr lang="en-US" sz="1600">
                <a:latin typeface="Gill Sans MT" panose="020B0502020104020203" pitchFamily="34" charset="0"/>
              </a:rPr>
              <a:t>via</a:t>
            </a:r>
            <a:r>
              <a:rPr lang="en-US" sz="1600" b="1">
                <a:latin typeface="Gill Sans MT" panose="020B0502020104020203" pitchFamily="34" charset="0"/>
              </a:rPr>
              <a:t> MyApps</a:t>
            </a:r>
            <a:r>
              <a:rPr lang="en-US" sz="1600">
                <a:latin typeface="Gill Sans MT" panose="020B0502020104020203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>
                <a:latin typeface="Gill Sans MT" panose="020B0502020104020203" pitchFamily="34" charset="0"/>
              </a:rPr>
              <a:t>One advantage of this method is that you’re are at the college; therefore, </a:t>
            </a:r>
            <a:r>
              <a:rPr lang="en-US" sz="1600" b="1">
                <a:latin typeface="Gill Sans MT" panose="020B0502020104020203" pitchFamily="34" charset="0"/>
              </a:rPr>
              <a:t>you do NOT have to worry about connecting to the Seneca VPN</a:t>
            </a:r>
            <a:r>
              <a:rPr lang="en-US" sz="1600">
                <a:latin typeface="Gill Sans MT" panose="020B0502020104020203" pitchFamily="34" charset="0"/>
              </a:rPr>
              <a:t>. Another advantage of using this method is to introduce you to a </a:t>
            </a:r>
            <a:r>
              <a:rPr lang="en-US" sz="1600" b="1">
                <a:latin typeface="Gill Sans MT" panose="020B0502020104020203" pitchFamily="34" charset="0"/>
              </a:rPr>
              <a:t>graphical program</a:t>
            </a:r>
            <a:r>
              <a:rPr lang="en-US" sz="1600">
                <a:latin typeface="Gill Sans MT" panose="020B0502020104020203" pitchFamily="34" charset="0"/>
              </a:rPr>
              <a:t> to allow you connect to your Matrix account as opposed to using the </a:t>
            </a:r>
            <a:r>
              <a:rPr lang="en-US" sz="1600" b="1">
                <a:latin typeface="Gill Sans MT" panose="020B0502020104020203" pitchFamily="34" charset="0"/>
              </a:rPr>
              <a:t>ssh</a:t>
            </a:r>
            <a:r>
              <a:rPr lang="en-US" sz="1600">
                <a:latin typeface="Gill Sans MT" panose="020B0502020104020203" pitchFamily="34" charset="0"/>
              </a:rPr>
              <a:t> command (shown in the previous section).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>
                <a:latin typeface="Gill Sans MT" panose="020B0502020104020203" pitchFamily="34" charset="0"/>
              </a:rPr>
              <a:t>This method would also be useful if you do </a:t>
            </a:r>
            <a:r>
              <a:rPr lang="en-US" sz="1600" b="1">
                <a:latin typeface="Gill Sans MT" panose="020B0502020104020203" pitchFamily="34" charset="0"/>
              </a:rPr>
              <a:t>not</a:t>
            </a:r>
            <a:r>
              <a:rPr lang="en-US" sz="1600">
                <a:latin typeface="Gill Sans MT" panose="020B0502020104020203" pitchFamily="34" charset="0"/>
              </a:rPr>
              <a:t> have a home (notebook) computer and have access to a Seneca computer lab workstation.</a:t>
            </a:r>
          </a:p>
        </p:txBody>
      </p:sp>
      <p:pic>
        <p:nvPicPr>
          <p:cNvPr id="5" name="Picture 10" descr="A picture containing computer&#10;&#10;Description automatically generated"/>
          <p:cNvPicPr/>
          <p:nvPr/>
        </p:nvPicPr>
        <p:blipFill>
          <a:blip r:embed="rId2"/>
          <a:stretch/>
        </p:blipFill>
        <p:spPr>
          <a:xfrm>
            <a:off x="10597837" y="542259"/>
            <a:ext cx="912645" cy="940635"/>
          </a:xfrm>
          <a:prstGeom prst="rect">
            <a:avLst/>
          </a:prstGeom>
          <a:ln>
            <a:noFill/>
          </a:ln>
        </p:spPr>
      </p:pic>
      <p:pic>
        <p:nvPicPr>
          <p:cNvPr id="6" name="Picture 3" descr="https://wiki.cdot.senecacollege.ca/w/imgs/thumb/Apps-anywhere-main-window.png/250px-Apps-anywhere-main-window.pn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066" y="3145971"/>
            <a:ext cx="3037696" cy="13608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979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1451520" y="1875436"/>
            <a:ext cx="7809438" cy="40368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64000" lnSpcReduction="2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800" b="1" strike="noStrike" spc="-1">
                <a:solidFill>
                  <a:srgbClr val="000000"/>
                </a:solidFill>
                <a:latin typeface="Gill Sans MT"/>
              </a:rPr>
              <a:t>Accessing Matrix in Seneca Computer Lab (via MyApps) / </a:t>
            </a:r>
            <a:r>
              <a:rPr lang="en-CA" sz="2800" b="1" strike="noStrike" spc="-1" err="1">
                <a:solidFill>
                  <a:srgbClr val="000000"/>
                </a:solidFill>
                <a:latin typeface="Gill Sans MT"/>
              </a:rPr>
              <a:t>Cont</a:t>
            </a:r>
            <a:r>
              <a:rPr lang="en-CA" sz="2800" b="1" strike="noStrike" spc="-1">
                <a:solidFill>
                  <a:srgbClr val="000000"/>
                </a:solidFill>
                <a:latin typeface="Gill Sans MT"/>
              </a:rPr>
              <a:t>….</a:t>
            </a:r>
            <a:endParaRPr lang="en-CA" sz="2800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b="1"/>
              <a:t>Perform the Following Steps:</a:t>
            </a:r>
            <a:br>
              <a:rPr lang="en-US" b="1"/>
            </a:b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Start your workstation in your lab and login to Windows with your Seneca account.</a:t>
            </a:r>
            <a:br>
              <a:rPr lang="en-US"/>
            </a:b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Make certain that the </a:t>
            </a:r>
            <a:r>
              <a:rPr lang="en-US" b="1" err="1"/>
              <a:t>MyApps</a:t>
            </a:r>
            <a:r>
              <a:rPr lang="en-US"/>
              <a:t> window is open. This window should have opened shortly after you logged into your Windows workstation. If the application windows is not open, click on the </a:t>
            </a:r>
            <a:r>
              <a:rPr lang="en-US" b="1"/>
              <a:t>MyApps</a:t>
            </a:r>
            <a:r>
              <a:rPr lang="en-US"/>
              <a:t> icon on the desktop to launch). </a:t>
            </a:r>
          </a:p>
          <a:p>
            <a:pPr marL="342900" indent="-342900">
              <a:buFont typeface="+mj-lt"/>
              <a:buAutoNum type="arabicPeriod"/>
            </a:pPr>
            <a:endParaRPr lang="en-US" b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/>
              <a:t>NOTE</a:t>
            </a:r>
            <a:r>
              <a:rPr lang="en-US"/>
              <a:t>: If a banner appears at the top labelled </a:t>
            </a:r>
            <a:r>
              <a:rPr lang="en-US" b="1"/>
              <a:t>“Requires Validation”</a:t>
            </a:r>
            <a:r>
              <a:rPr lang="en-US"/>
              <a:t>, click the banner and use your username and password.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/>
              <a:t>Click on the </a:t>
            </a:r>
            <a:r>
              <a:rPr lang="en-US" b="1"/>
              <a:t>Search Apps</a:t>
            </a:r>
            <a:r>
              <a:rPr lang="en-US"/>
              <a:t> area located in the top right corner of the MyApps window and type the word:</a:t>
            </a:r>
            <a:r>
              <a:rPr lang="en-US" b="1"/>
              <a:t> </a:t>
            </a:r>
            <a:r>
              <a:rPr lang="en-US" b="1" u="sng"/>
              <a:t>ssh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/>
              <a:t>Several SSH applications will appear.</a:t>
            </a:r>
          </a:p>
          <a:p>
            <a:pPr marL="800100" lvl="1" indent="-342900">
              <a:lnSpc>
                <a:spcPct val="12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/>
              <a:t>NOTE:</a:t>
            </a:r>
            <a:r>
              <a:rPr lang="en-US"/>
              <a:t> All of these applications allow you to connect to your Matrix account.</a:t>
            </a:r>
            <a:br>
              <a:rPr lang="en-US"/>
            </a:br>
            <a:r>
              <a:rPr lang="en-US"/>
              <a:t>We will use the application called </a:t>
            </a:r>
            <a:r>
              <a:rPr lang="en-US" b="1"/>
              <a:t>SSH Secure Shell Client</a:t>
            </a:r>
            <a:r>
              <a:rPr lang="en-US"/>
              <a:t> for this practice tutorial.</a:t>
            </a:r>
            <a:endParaRPr lang="en-CA" b="0" strike="noStrike" spc="-1">
              <a:solidFill>
                <a:srgbClr val="000000"/>
              </a:solidFill>
              <a:latin typeface="Gill Sans MT"/>
            </a:endParaRP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en-US"/>
              <a:t>Launch the </a:t>
            </a:r>
            <a:r>
              <a:rPr lang="en-US" b="1"/>
              <a:t>SSH Secure Shell Client</a:t>
            </a:r>
            <a:r>
              <a:rPr lang="en-US"/>
              <a:t> application icon to launch this program.</a:t>
            </a:r>
          </a:p>
          <a:p>
            <a:pPr marL="800100" lvl="1" indent="-342900">
              <a:lnSpc>
                <a:spcPct val="12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/>
              <a:t>NOTE:</a:t>
            </a:r>
            <a:r>
              <a:rPr lang="en-US"/>
              <a:t> Prior to launching the application, you can add this to your </a:t>
            </a:r>
            <a:r>
              <a:rPr lang="en-US" b="1" err="1"/>
              <a:t>favourites</a:t>
            </a:r>
            <a:r>
              <a:rPr lang="en-US"/>
              <a:t> which will make it faster to access this application in the future.</a:t>
            </a:r>
            <a:endParaRPr lang="en-CA" b="0" strike="noStrike" spc="-1">
              <a:latin typeface="Arial"/>
            </a:endParaRPr>
          </a:p>
        </p:txBody>
      </p:sp>
      <p:pic>
        <p:nvPicPr>
          <p:cNvPr id="171" name="Picture 10" descr="A picture containing computer&#10;&#10;Description automatically generated"/>
          <p:cNvPicPr/>
          <p:nvPr/>
        </p:nvPicPr>
        <p:blipFill>
          <a:blip r:embed="rId2"/>
          <a:stretch/>
        </p:blipFill>
        <p:spPr>
          <a:xfrm>
            <a:off x="10597837" y="542259"/>
            <a:ext cx="912645" cy="940635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915" y="3285133"/>
            <a:ext cx="2257844" cy="5644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6045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1451520" y="1875437"/>
            <a:ext cx="7809438" cy="39483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90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Accessing Matrix in Seneca Computer Lab (via MyApps) / </a:t>
            </a:r>
            <a:r>
              <a:rPr lang="en-CA" sz="2400" b="1" strike="noStrike" spc="-1" err="1">
                <a:solidFill>
                  <a:srgbClr val="000000"/>
                </a:solidFill>
                <a:latin typeface="Gill Sans MT"/>
              </a:rPr>
              <a:t>Cont</a:t>
            </a: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….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b="1"/>
              <a:t>Perform the Following Steps:</a:t>
            </a:r>
            <a:br>
              <a:rPr lang="en-US" b="1"/>
            </a:br>
            <a:endParaRPr lang="en-US"/>
          </a:p>
          <a:p>
            <a:pPr marL="342900" indent="-342900">
              <a:buFont typeface="+mj-lt"/>
              <a:buAutoNum type="arabicPeriod" startAt="6"/>
            </a:pPr>
            <a:r>
              <a:rPr lang="en-US"/>
              <a:t>The main SSH Client window will appear. Click on the </a:t>
            </a:r>
            <a:r>
              <a:rPr lang="en-US" b="1"/>
              <a:t>Quick Connect</a:t>
            </a:r>
            <a:r>
              <a:rPr lang="en-US"/>
              <a:t> button.</a:t>
            </a:r>
          </a:p>
          <a:p>
            <a:pPr marL="342900" indent="-342900">
              <a:buFont typeface="+mj-lt"/>
              <a:buAutoNum type="arabicPeriod" startAt="6"/>
            </a:pPr>
            <a:endParaRPr lang="en-US" b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/>
              <a:t>NOTE:</a:t>
            </a:r>
            <a:r>
              <a:rPr lang="en-US"/>
              <a:t> The Connect dialog box allows the user to specify the </a:t>
            </a:r>
            <a:r>
              <a:rPr lang="en-US" b="1"/>
              <a:t>server name</a:t>
            </a:r>
            <a:r>
              <a:rPr lang="en-US"/>
              <a:t> and your </a:t>
            </a:r>
            <a:r>
              <a:rPr lang="en-US" b="1"/>
              <a:t>account name </a:t>
            </a:r>
            <a:r>
              <a:rPr lang="en-US"/>
              <a:t>to allow you to connect to the server.</a:t>
            </a:r>
            <a:br>
              <a:rPr lang="en-US"/>
            </a:br>
            <a:endParaRPr lang="en-US"/>
          </a:p>
          <a:p>
            <a:pPr marL="342900" indent="-342900">
              <a:buFont typeface="+mj-lt"/>
              <a:buAutoNum type="arabicPeriod" startAt="6"/>
            </a:pPr>
            <a:r>
              <a:rPr lang="en-US"/>
              <a:t>Click on the textbox labelled Hostname and enter the text: </a:t>
            </a:r>
            <a:r>
              <a:rPr lang="en-US" b="1"/>
              <a:t>matrix</a:t>
            </a:r>
          </a:p>
          <a:p>
            <a:pPr marL="342900" indent="-342900">
              <a:buFont typeface="+mj-lt"/>
              <a:buAutoNum type="arabicPeriod" startAt="6"/>
            </a:pPr>
            <a:endParaRPr lang="en-US" b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/>
              <a:t>NOTE:</a:t>
            </a:r>
            <a:r>
              <a:rPr lang="en-US"/>
              <a:t> You can use the hostname </a:t>
            </a:r>
            <a:r>
              <a:rPr lang="en-US" b="1"/>
              <a:t>matrix</a:t>
            </a:r>
            <a:r>
              <a:rPr lang="en-US"/>
              <a:t> since you are located </a:t>
            </a:r>
            <a:r>
              <a:rPr lang="en-US" u="sng"/>
              <a:t>inside</a:t>
            </a:r>
            <a:r>
              <a:rPr lang="en-US"/>
              <a:t> Seneca's network. If you were located </a:t>
            </a:r>
            <a:r>
              <a:rPr lang="en-US" u="sng"/>
              <a:t>outside</a:t>
            </a:r>
            <a:r>
              <a:rPr lang="en-US"/>
              <a:t> Seneca's network, then you would need to enter the full domain name: </a:t>
            </a:r>
          </a:p>
          <a:p>
            <a:pPr lvl="3"/>
            <a:r>
              <a:rPr lang="en-US" b="1" err="1"/>
              <a:t>matrix.senecacollege.ca</a:t>
            </a:r>
            <a:endParaRPr lang="en-US" b="1"/>
          </a:p>
          <a:p>
            <a:pPr marL="342900" indent="-342900">
              <a:buFont typeface="+mj-lt"/>
              <a:buAutoNum type="arabicPeriod" startAt="6"/>
            </a:pPr>
            <a:endParaRPr lang="en-US" b="1"/>
          </a:p>
          <a:p>
            <a:pPr marL="342900" indent="-342900">
              <a:buFont typeface="+mj-lt"/>
              <a:buAutoNum type="arabicPeriod" startAt="6"/>
            </a:pPr>
            <a:r>
              <a:rPr lang="en-US"/>
              <a:t>Follow the same steps discussed in previous slides to connect and then disconnect to your Matrix account.</a:t>
            </a:r>
          </a:p>
        </p:txBody>
      </p:sp>
      <p:pic>
        <p:nvPicPr>
          <p:cNvPr id="171" name="Picture 10" descr="A picture containing computer&#10;&#10;Description automatically generated"/>
          <p:cNvPicPr/>
          <p:nvPr/>
        </p:nvPicPr>
        <p:blipFill>
          <a:blip r:embed="rId2"/>
          <a:stretch/>
        </p:blipFill>
        <p:spPr>
          <a:xfrm>
            <a:off x="10597837" y="542259"/>
            <a:ext cx="912645" cy="940635"/>
          </a:xfrm>
          <a:prstGeom prst="rect">
            <a:avLst/>
          </a:prstGeom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826" y="2115621"/>
            <a:ext cx="1582666" cy="1342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701" y="3779558"/>
            <a:ext cx="1486915" cy="779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5410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strike="noStrike" cap="all" spc="-1">
                <a:solidFill>
                  <a:srgbClr val="000000"/>
                </a:solidFill>
                <a:latin typeface="Gill Sans MT"/>
              </a:rPr>
              <a:t>Matrix Linux Server</a:t>
            </a:r>
            <a:endParaRPr lang="en-CA" sz="3000" b="0" strike="noStrike" spc="-1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1469276" y="1862158"/>
            <a:ext cx="9584884" cy="38461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400" b="1" strike="noStrike" spc="-1">
                <a:solidFill>
                  <a:srgbClr val="000000"/>
                </a:solidFill>
                <a:latin typeface="Gill Sans MT"/>
              </a:rPr>
              <a:t>Instructor Demonstration:</a:t>
            </a:r>
            <a:endParaRPr lang="en-CA" sz="24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Your instructor will demonstrate how to connect to the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Matrix</a:t>
            </a:r>
            <a:r>
              <a:rPr lang="en-CA" sz="2000" b="0" strike="noStrike" spc="-1">
                <a:solidFill>
                  <a:srgbClr val="000000"/>
                </a:solidFill>
                <a:latin typeface="Gill Sans MT"/>
              </a:rPr>
              <a:t> server running an </a:t>
            </a:r>
            <a:r>
              <a:rPr lang="en-CA" sz="2000" b="1" strike="noStrike" spc="-1">
                <a:solidFill>
                  <a:srgbClr val="000000"/>
                </a:solidFill>
                <a:latin typeface="Gill Sans MT"/>
              </a:rPr>
              <a:t>SSH application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via MyApps in a Seneca computer lab.</a:t>
            </a:r>
          </a:p>
          <a:p>
            <a:pPr lvl="1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b="1" spc="-1">
                <a:solidFill>
                  <a:srgbClr val="000000"/>
                </a:solidFill>
                <a:latin typeface="Gill Sans MT"/>
              </a:rPr>
              <a:t>NOTE: If your professor does </a:t>
            </a:r>
            <a:r>
              <a:rPr lang="en-CA" sz="2000" b="1" u="sng" spc="-1">
                <a:solidFill>
                  <a:srgbClr val="000000"/>
                </a:solidFill>
                <a:latin typeface="Gill Sans MT"/>
              </a:rPr>
              <a:t>not</a:t>
            </a:r>
            <a:r>
              <a:rPr lang="en-CA" sz="2000" b="1" spc="-1">
                <a:solidFill>
                  <a:srgbClr val="000000"/>
                </a:solidFill>
                <a:latin typeface="Gill Sans MT"/>
              </a:rPr>
              <a:t> have a face-to-face class, but you have access to Seneca computer labs, then perform this method in Weekly Tutorial #1.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CA" sz="2000" spc="-1">
                <a:solidFill>
                  <a:srgbClr val="000000"/>
                </a:solidFill>
                <a:latin typeface="Gill Sans MT"/>
              </a:rPr>
              <a:t>Later in the course, your instructor may demonstrate other ways of accessing your Matrix account by launching a </a:t>
            </a:r>
            <a:r>
              <a:rPr lang="en-CA" sz="2000" b="1" spc="-1">
                <a:solidFill>
                  <a:srgbClr val="000000"/>
                </a:solidFill>
                <a:latin typeface="Gill Sans MT"/>
              </a:rPr>
              <a:t>graphical versions of Linux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and run </a:t>
            </a:r>
            <a:r>
              <a:rPr lang="en-CA" sz="2000" b="1" spc="-1" err="1">
                <a:solidFill>
                  <a:srgbClr val="000000"/>
                </a:solidFill>
                <a:latin typeface="Gill Sans MT"/>
              </a:rPr>
              <a:t>ssh</a:t>
            </a:r>
            <a:r>
              <a:rPr lang="en-CA" sz="2000" spc="-1">
                <a:solidFill>
                  <a:srgbClr val="000000"/>
                </a:solidFill>
                <a:latin typeface="Gill Sans MT"/>
              </a:rPr>
              <a:t> command from the Linux shell.</a:t>
            </a:r>
            <a:endParaRPr lang="en-CA" sz="2000" b="0" strike="noStrike" spc="-1">
              <a:latin typeface="Arial"/>
            </a:endParaRPr>
          </a:p>
        </p:txBody>
      </p:sp>
      <p:pic>
        <p:nvPicPr>
          <p:cNvPr id="174" name="Picture 5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0792829" y="465522"/>
            <a:ext cx="953820" cy="103092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1451520" y="804600"/>
            <a:ext cx="9602640" cy="104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cap="all" spc="-1">
                <a:solidFill>
                  <a:srgbClr val="000000"/>
                </a:solidFill>
                <a:latin typeface="Gill Sans MT"/>
              </a:rPr>
              <a:t>HOMEWORK</a:t>
            </a:r>
            <a:endParaRPr lang="en-CA" sz="3200" b="0" strike="noStrike" spc="-1"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1451520" y="1862158"/>
            <a:ext cx="9602640" cy="37929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5000"/>
          </a:bodyPr>
          <a:lstStyle/>
          <a:p>
            <a:pPr marL="457835" indent="-4572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+mj-lt"/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Get acquainted with the </a:t>
            </a: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OPS145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400" b="1" spc="-1" dirty="0">
                <a:solidFill>
                  <a:srgbClr val="000000"/>
                </a:solidFill>
                <a:latin typeface="Gill Sans MT"/>
              </a:rPr>
              <a:t>Lab site</a:t>
            </a: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,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notes</a:t>
            </a: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,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tutorials</a:t>
            </a: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 and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resources</a:t>
            </a: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.</a:t>
            </a:r>
            <a:endParaRPr lang="en-US" dirty="0"/>
          </a:p>
          <a:p>
            <a:pPr marL="915035" lvl="1" indent="-4572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 panose="020B0604020202020204" pitchFamily="34" charset="0"/>
              <a:buChar char="•"/>
            </a:pPr>
            <a:r>
              <a:rPr lang="en-CA" sz="2100" spc="-1" dirty="0">
                <a:latin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OPS145 Lab site</a:t>
            </a:r>
            <a:r>
              <a:rPr lang="en-CA" sz="2100" b="0" strike="noStrike" spc="-1" dirty="0">
                <a:latin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Main Page</a:t>
            </a:r>
          </a:p>
          <a:p>
            <a:pPr marL="915035" lvl="1" indent="-4572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 panose="020B0604020202020204" pitchFamily="34" charset="0"/>
              <a:buChar char="•"/>
            </a:pPr>
            <a:r>
              <a:rPr lang="en-CA" sz="2100" spc="-1" dirty="0"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OPS145</a:t>
            </a:r>
            <a:r>
              <a:rPr lang="en-CA" sz="2100" b="0" strike="noStrike" spc="-1" dirty="0"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Weekly Schedule</a:t>
            </a:r>
            <a:endParaRPr lang="en-CA" sz="2400" b="0" strike="noStrike" spc="-1" dirty="0">
              <a:latin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835" indent="-4572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+mj-lt"/>
              <a:buAutoNum type="arabicPeriod"/>
            </a:pPr>
            <a:r>
              <a:rPr lang="en-US" sz="2400" b="0" strike="noStrike" spc="-1" dirty="0">
                <a:solidFill>
                  <a:srgbClr val="000000"/>
                </a:solidFill>
                <a:latin typeface="Gill Sans MT"/>
              </a:rPr>
              <a:t>Perform the following investigations in </a:t>
            </a:r>
            <a:r>
              <a:rPr lang="en-US" sz="2400" b="1" strike="noStrike" spc="-1" dirty="0">
                <a:solidFill>
                  <a:srgbClr val="000000"/>
                </a:solidFill>
                <a:latin typeface="Gill Sans MT"/>
              </a:rPr>
              <a:t>Weekly Tutorial 1 </a:t>
            </a:r>
            <a:br>
              <a:rPr lang="en-US" sz="2400" b="1" strike="noStrike" spc="-1" dirty="0">
                <a:latin typeface="Gill Sans MT"/>
              </a:rPr>
            </a:br>
            <a:r>
              <a:rPr lang="en-US" sz="2100" b="1" strike="noStrike" spc="-1" dirty="0">
                <a:solidFill>
                  <a:srgbClr val="000000"/>
                </a:solidFill>
                <a:latin typeface="Gill Sans MT"/>
              </a:rPr>
              <a:t>(Due: Friday Week </a:t>
            </a:r>
            <a:r>
              <a:rPr lang="en-US" sz="2100" b="1" spc="-1" dirty="0">
                <a:solidFill>
                  <a:srgbClr val="000000"/>
                </a:solidFill>
                <a:latin typeface="Gill Sans MT"/>
              </a:rPr>
              <a:t>3</a:t>
            </a:r>
            <a:r>
              <a:rPr lang="en-US" sz="2100" b="1" strike="noStrike" spc="-1" dirty="0">
                <a:solidFill>
                  <a:srgbClr val="000000"/>
                </a:solidFill>
                <a:latin typeface="Gill Sans MT"/>
              </a:rPr>
              <a:t> @ midnight for a 2% grade)</a:t>
            </a:r>
            <a:r>
              <a:rPr lang="en-US" sz="2100" b="0" strike="noStrike" spc="-1" dirty="0">
                <a:solidFill>
                  <a:srgbClr val="000000"/>
                </a:solidFill>
                <a:latin typeface="Gill Sans MT"/>
              </a:rPr>
              <a:t>:</a:t>
            </a:r>
          </a:p>
          <a:p>
            <a:pPr marL="915035" lvl="1" indent="-4572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 panose="020B0604020202020204" pitchFamily="34" charset="0"/>
              <a:buChar char="•"/>
            </a:pPr>
            <a:r>
              <a:rPr lang="en-CA" sz="2000" b="0" u="sng" strike="noStrike" spc="-1" dirty="0">
                <a:solidFill>
                  <a:srgbClr val="FA2B5C"/>
                </a:solidFill>
                <a:uFillTx/>
                <a:latin typeface="Gill Sans MT"/>
                <a:hlinkClick r:id="rId4"/>
              </a:rPr>
              <a:t>INVESTIGATION 1: ACCESSING YOUR MATRIX LINUX ACCOUNT</a:t>
            </a:r>
          </a:p>
        </p:txBody>
      </p:sp>
      <p:pic>
        <p:nvPicPr>
          <p:cNvPr id="2" name="Picture 1" descr="Recursos para Imagen y Comunicación: abril 201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87" y="546094"/>
            <a:ext cx="1230418" cy="8744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63C3818C603C4E8FACEDDCB496AECF" ma:contentTypeVersion="9" ma:contentTypeDescription="Create a new document." ma:contentTypeScope="" ma:versionID="a06f37d012f27ac6faeab03c4b554419">
  <xsd:schema xmlns:xsd="http://www.w3.org/2001/XMLSchema" xmlns:xs="http://www.w3.org/2001/XMLSchema" xmlns:p="http://schemas.microsoft.com/office/2006/metadata/properties" xmlns:ns2="c10caacb-b95b-4725-aa24-bc89bdc630be" xmlns:ns3="7127244f-425d-47e9-ac84-f3130e19f0cb" targetNamespace="http://schemas.microsoft.com/office/2006/metadata/properties" ma:root="true" ma:fieldsID="e2e4d438ce7bda7458c7c9e4f06908ff" ns2:_="" ns3:_="">
    <xsd:import namespace="c10caacb-b95b-4725-aa24-bc89bdc630be"/>
    <xsd:import namespace="7127244f-425d-47e9-ac84-f3130e19f0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0caacb-b95b-4725-aa24-bc89bdc630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68e675e-7f51-40c4-b007-fcb928a1bb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27244f-425d-47e9-ac84-f3130e19f0c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99bf807-153c-4f33-8b51-d0637107e922}" ma:internalName="TaxCatchAll" ma:showField="CatchAllData" ma:web="7127244f-425d-47e9-ac84-f3130e19f0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0caacb-b95b-4725-aa24-bc89bdc630be">
      <Terms xmlns="http://schemas.microsoft.com/office/infopath/2007/PartnerControls"/>
    </lcf76f155ced4ddcb4097134ff3c332f>
    <TaxCatchAll xmlns="7127244f-425d-47e9-ac84-f3130e19f0cb" xsi:nil="true"/>
  </documentManagement>
</p:properties>
</file>

<file path=customXml/itemProps1.xml><?xml version="1.0" encoding="utf-8"?>
<ds:datastoreItem xmlns:ds="http://schemas.openxmlformats.org/officeDocument/2006/customXml" ds:itemID="{6239E0C4-C448-4F3E-B24D-0DFA2E8F6F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ED5D1C-24D2-403D-8D38-4E132FBC1C5C}">
  <ds:schemaRefs>
    <ds:schemaRef ds:uri="7127244f-425d-47e9-ac84-f3130e19f0cb"/>
    <ds:schemaRef ds:uri="c10caacb-b95b-4725-aa24-bc89bdc630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75F65CA-BE6C-48C8-8833-5295306C1CD5}">
  <ds:schemaRefs>
    <ds:schemaRef ds:uri="7127244f-425d-47e9-ac84-f3130e19f0cb"/>
    <ds:schemaRef ds:uri="c10caacb-b95b-4725-aa24-bc89bdc630b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{3D71E03E-4654-1148-BF73-F9F4AFE5A21B}tf10001119</Template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SYST28296</dc:title>
  <dc:subject/>
  <dc:creator>Saul, Jennifer</dc:creator>
  <dc:description/>
  <cp:revision>26</cp:revision>
  <dcterms:created xsi:type="dcterms:W3CDTF">2019-04-25T17:31:46Z</dcterms:created>
  <dcterms:modified xsi:type="dcterms:W3CDTF">2023-12-30T19:40:07Z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48</vt:i4>
  </property>
  <property fmtid="{D5CDD505-2E9C-101B-9397-08002B2CF9AE}" pid="12" name="ContentTypeId">
    <vt:lpwstr>0x010100B163C3818C603C4E8FACEDDCB496AECF</vt:lpwstr>
  </property>
  <property fmtid="{D5CDD505-2E9C-101B-9397-08002B2CF9AE}" pid="13" name="MediaServiceImageTags">
    <vt:lpwstr/>
  </property>
</Properties>
</file>